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37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6820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227"/>
          </a:solidFill>
          <a:ln w="12700">
            <a:solidFill>
              <a:srgbClr val="C9A227"/>
            </a:solidFill>
            <a:prstDash val="solid"/>
          </a:ln>
        </p:spPr>
        <p:txBody>
          <a:bodyPr/>
          <a:lstStyle/>
          <a:p>
            <a:endParaRPr lang="en-US"/>
          </a:p>
        </p:txBody>
      </p:sp>
      <p:pic>
        <p:nvPicPr>
          <p:cNvPr id="3" name="Image 0" descr="/home/claude/image1.jpeg"/>
          <p:cNvPicPr>
            <a:picLocks noChangeAspect="1"/>
          </p:cNvPicPr>
          <p:nvPr/>
        </p:nvPicPr>
        <p:blipFill>
          <a:blip r:embed="rId3"/>
          <a:stretch>
            <a:fillRect/>
          </a:stretch>
        </p:blipFill>
        <p:spPr>
          <a:xfrm>
            <a:off x="5669280" y="365760"/>
            <a:ext cx="3108960" cy="1005840"/>
          </a:xfrm>
          <a:prstGeom prst="rect">
            <a:avLst/>
          </a:prstGeom>
        </p:spPr>
      </p:pic>
      <p:sp>
        <p:nvSpPr>
          <p:cNvPr id="4" name="Text 1"/>
          <p:cNvSpPr/>
          <p:nvPr/>
        </p:nvSpPr>
        <p:spPr>
          <a:xfrm>
            <a:off x="320040" y="1005840"/>
            <a:ext cx="5303520" cy="502920"/>
          </a:xfrm>
          <a:prstGeom prst="rect">
            <a:avLst/>
          </a:prstGeom>
          <a:noFill/>
          <a:ln/>
        </p:spPr>
        <p:txBody>
          <a:bodyPr wrap="square" rtlCol="0" anchor="ctr"/>
          <a:lstStyle/>
          <a:p>
            <a:pPr marL="0" indent="0">
              <a:buNone/>
            </a:pPr>
            <a:r>
              <a:rPr lang="en-US" sz="1300" b="1" kern="0" spc="400" dirty="0">
                <a:solidFill>
                  <a:srgbClr val="C9A227"/>
                </a:solidFill>
                <a:latin typeface="Calibri" pitchFamily="34" charset="0"/>
                <a:ea typeface="Calibri" pitchFamily="34" charset="-122"/>
                <a:cs typeface="Calibri" pitchFamily="34" charset="-120"/>
              </a:rPr>
              <a:t>H-EDU.SOLUTIONS</a:t>
            </a:r>
            <a:endParaRPr lang="en-US" sz="1300" dirty="0"/>
          </a:p>
        </p:txBody>
      </p:sp>
      <p:sp>
        <p:nvSpPr>
          <p:cNvPr id="5" name="Text 2"/>
          <p:cNvSpPr/>
          <p:nvPr/>
        </p:nvSpPr>
        <p:spPr>
          <a:xfrm>
            <a:off x="320040" y="1508760"/>
            <a:ext cx="7315200" cy="8229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Presentation to The CSBA</a:t>
            </a:r>
            <a:endParaRPr lang="en-US" sz="3600" dirty="0"/>
          </a:p>
        </p:txBody>
      </p:sp>
      <p:sp>
        <p:nvSpPr>
          <p:cNvPr id="6" name="Shape 3"/>
          <p:cNvSpPr/>
          <p:nvPr/>
        </p:nvSpPr>
        <p:spPr>
          <a:xfrm>
            <a:off x="320040" y="2423160"/>
            <a:ext cx="4114800" cy="36576"/>
          </a:xfrm>
          <a:prstGeom prst="rect">
            <a:avLst/>
          </a:prstGeom>
          <a:solidFill>
            <a:srgbClr val="C9A227"/>
          </a:solidFill>
          <a:ln w="12700">
            <a:solidFill>
              <a:srgbClr val="C9A227"/>
            </a:solidFill>
            <a:prstDash val="solid"/>
          </a:ln>
        </p:spPr>
        <p:txBody>
          <a:bodyPr/>
          <a:lstStyle/>
          <a:p>
            <a:endParaRPr lang="en-US"/>
          </a:p>
        </p:txBody>
      </p:sp>
      <p:sp>
        <p:nvSpPr>
          <p:cNvPr id="7" name="Text 4"/>
          <p:cNvSpPr/>
          <p:nvPr/>
        </p:nvSpPr>
        <p:spPr>
          <a:xfrm>
            <a:off x="320040" y="2560320"/>
            <a:ext cx="4572000" cy="41148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March 23, 2026</a:t>
            </a:r>
            <a:endParaRPr lang="en-US" sz="1600" dirty="0"/>
          </a:p>
        </p:txBody>
      </p:sp>
      <p:sp>
        <p:nvSpPr>
          <p:cNvPr id="8" name="Text 5"/>
          <p:cNvSpPr/>
          <p:nvPr/>
        </p:nvSpPr>
        <p:spPr>
          <a:xfrm>
            <a:off x="320040" y="3108960"/>
            <a:ext cx="8229600" cy="45720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Verification Engine for Results &amp; Accountability</a:t>
            </a:r>
            <a:endParaRPr lang="en-US" sz="1500" dirty="0"/>
          </a:p>
        </p:txBody>
      </p:sp>
      <p:pic>
        <p:nvPicPr>
          <p:cNvPr id="9" name="Image 1" descr="/home/claude/image4.jpeg"/>
          <p:cNvPicPr>
            <a:picLocks noChangeAspect="1"/>
          </p:cNvPicPr>
          <p:nvPr/>
        </p:nvPicPr>
        <p:blipFill>
          <a:blip r:embed="rId4"/>
          <a:stretch>
            <a:fillRect/>
          </a:stretch>
        </p:blipFill>
        <p:spPr>
          <a:xfrm>
            <a:off x="320040" y="3749040"/>
            <a:ext cx="256032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Problem, as Defined by CSBA</a:t>
            </a:r>
            <a:endParaRPr lang="en-US" sz="2200" dirty="0"/>
          </a:p>
        </p:txBody>
      </p:sp>
      <p:sp>
        <p:nvSpPr>
          <p:cNvPr id="4" name="Shape 2"/>
          <p:cNvSpPr/>
          <p:nvPr/>
        </p:nvSpPr>
        <p:spPr>
          <a:xfrm>
            <a:off x="365760" y="1920240"/>
            <a:ext cx="73152" cy="2651760"/>
          </a:xfrm>
          <a:prstGeom prst="rect">
            <a:avLst/>
          </a:prstGeom>
          <a:solidFill>
            <a:srgbClr val="C9A227"/>
          </a:solidFill>
          <a:ln w="12700">
            <a:solidFill>
              <a:srgbClr val="C9A227"/>
            </a:solidFill>
            <a:prstDash val="solid"/>
          </a:ln>
        </p:spPr>
        <p:txBody>
          <a:bodyPr/>
          <a:lstStyle/>
          <a:p>
            <a:endParaRPr lang="en-US"/>
          </a:p>
        </p:txBody>
      </p:sp>
      <p:sp>
        <p:nvSpPr>
          <p:cNvPr id="5" name="Text 3"/>
          <p:cNvSpPr/>
          <p:nvPr/>
        </p:nvSpPr>
        <p:spPr>
          <a:xfrm>
            <a:off x="594360" y="2011680"/>
            <a:ext cx="8229600" cy="2560320"/>
          </a:xfrm>
          <a:prstGeom prst="rect">
            <a:avLst/>
          </a:prstGeom>
          <a:noFill/>
          <a:ln/>
        </p:spPr>
        <p:txBody>
          <a:bodyPr wrap="square" rtlCol="0" anchor="t"/>
          <a:lstStyle/>
          <a:p>
            <a:pPr marL="0" indent="0">
              <a:spcAft>
                <a:spcPts val="1000"/>
              </a:spcAft>
              <a:buNone/>
            </a:pPr>
            <a:r>
              <a:rPr lang="en-US" sz="1700" dirty="0">
                <a:solidFill>
                  <a:srgbClr val="1A1A2E"/>
                </a:solidFill>
                <a:latin typeface="Calibri" pitchFamily="34" charset="0"/>
                <a:ea typeface="Calibri" pitchFamily="34" charset="-122"/>
                <a:cs typeface="Calibri" pitchFamily="34" charset="-120"/>
              </a:rPr>
              <a:t>California has no coherent state-level plan to close the achievement gap — and the state itself is accountable to no one for that failure. Local schools are measured constantly. Sacramento is not. The result is a fragmented, reactive system where one-off grants and disconnected reforms substitute for a durable strategy, and the state's most vulnerable students — with proficiency rates as low as 20–30% — fall further behind with each passing generation.</a:t>
            </a:r>
            <a:endParaRPr lang="en-US" sz="1700" dirty="0"/>
          </a:p>
        </p:txBody>
      </p:sp>
      <p:sp>
        <p:nvSpPr>
          <p:cNvPr id="6" name="Shape 4"/>
          <p:cNvSpPr/>
          <p:nvPr/>
        </p:nvSpPr>
        <p:spPr>
          <a:xfrm>
            <a:off x="0" y="4800600"/>
            <a:ext cx="9144000" cy="342900"/>
          </a:xfrm>
          <a:prstGeom prst="rect">
            <a:avLst/>
          </a:prstGeom>
          <a:solidFill>
            <a:srgbClr val="1B3A6B"/>
          </a:solidFill>
          <a:ln w="12700">
            <a:solidFill>
              <a:srgbClr val="1B3A6B"/>
            </a:solidFill>
            <a:prstDash val="solid"/>
          </a:ln>
        </p:spPr>
        <p:txBody>
          <a:bodyPr/>
          <a:lstStyle/>
          <a:p>
            <a:endParaRPr lang="en-US"/>
          </a:p>
        </p:txBody>
      </p:sp>
      <p:sp>
        <p:nvSpPr>
          <p:cNvPr id="7" name="Text 5"/>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CSBA's Six Point Plan</a:t>
            </a:r>
            <a:endParaRPr lang="en-US" sz="2200" dirty="0"/>
          </a:p>
        </p:txBody>
      </p:sp>
      <p:sp>
        <p:nvSpPr>
          <p:cNvPr id="4" name="Shape 2"/>
          <p:cNvSpPr/>
          <p:nvPr/>
        </p:nvSpPr>
        <p:spPr>
          <a:xfrm>
            <a:off x="320040" y="1005840"/>
            <a:ext cx="384048" cy="384048"/>
          </a:xfrm>
          <a:prstGeom prst="ellipse">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320040" y="1005840"/>
            <a:ext cx="384048" cy="384048"/>
          </a:xfrm>
          <a:prstGeom prst="rect">
            <a:avLst/>
          </a:prstGeom>
          <a:noFill/>
          <a:ln/>
        </p:spPr>
        <p:txBody>
          <a:bodyPr wrap="square" rtlCol="0" anchor="ctr"/>
          <a:lstStyle/>
          <a:p>
            <a:pPr marL="0" indent="0" algn="ctr">
              <a:buNone/>
            </a:pPr>
            <a:r>
              <a:rPr lang="en-US" sz="1400" b="1" dirty="0">
                <a:solidFill>
                  <a:srgbClr val="C9A227"/>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95528" y="1005840"/>
            <a:ext cx="393192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Clear, measurable state goals for CDE, the State Board, and CCEE.</a:t>
            </a:r>
            <a:endParaRPr lang="en-US" sz="1200" dirty="0"/>
          </a:p>
        </p:txBody>
      </p:sp>
      <p:sp>
        <p:nvSpPr>
          <p:cNvPr id="7" name="Shape 5"/>
          <p:cNvSpPr/>
          <p:nvPr/>
        </p:nvSpPr>
        <p:spPr>
          <a:xfrm>
            <a:off x="320040" y="2286000"/>
            <a:ext cx="384048" cy="384048"/>
          </a:xfrm>
          <a:prstGeom prst="ellipse">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320040" y="2286000"/>
            <a:ext cx="384048" cy="384048"/>
          </a:xfrm>
          <a:prstGeom prst="rect">
            <a:avLst/>
          </a:prstGeom>
          <a:noFill/>
          <a:ln/>
        </p:spPr>
        <p:txBody>
          <a:bodyPr wrap="square" rtlCol="0" anchor="ctr"/>
          <a:lstStyle/>
          <a:p>
            <a:pPr marL="0" indent="0" algn="ctr">
              <a:buNone/>
            </a:pPr>
            <a:r>
              <a:rPr lang="en-US" sz="1400" b="1" dirty="0">
                <a:solidFill>
                  <a:srgbClr val="C9A227"/>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95528" y="2286000"/>
            <a:ext cx="393192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Annual benchmarks and transparent reporting — the state assesses its own efforts.</a:t>
            </a:r>
            <a:endParaRPr lang="en-US" sz="1200" dirty="0"/>
          </a:p>
        </p:txBody>
      </p:sp>
      <p:sp>
        <p:nvSpPr>
          <p:cNvPr id="10" name="Shape 8"/>
          <p:cNvSpPr/>
          <p:nvPr/>
        </p:nvSpPr>
        <p:spPr>
          <a:xfrm>
            <a:off x="320040" y="3566160"/>
            <a:ext cx="384048" cy="384048"/>
          </a:xfrm>
          <a:prstGeom prst="ellipse">
            <a:avLst/>
          </a:prstGeom>
          <a:solidFill>
            <a:srgbClr val="1B3A6B"/>
          </a:solidFill>
          <a:ln w="12700">
            <a:solidFill>
              <a:srgbClr val="1B3A6B"/>
            </a:solidFill>
            <a:prstDash val="solid"/>
          </a:ln>
        </p:spPr>
        <p:txBody>
          <a:bodyPr/>
          <a:lstStyle/>
          <a:p>
            <a:endParaRPr lang="en-US"/>
          </a:p>
        </p:txBody>
      </p:sp>
      <p:sp>
        <p:nvSpPr>
          <p:cNvPr id="11" name="Text 9"/>
          <p:cNvSpPr/>
          <p:nvPr/>
        </p:nvSpPr>
        <p:spPr>
          <a:xfrm>
            <a:off x="320040" y="3566160"/>
            <a:ext cx="384048" cy="384048"/>
          </a:xfrm>
          <a:prstGeom prst="rect">
            <a:avLst/>
          </a:prstGeom>
          <a:noFill/>
          <a:ln/>
        </p:spPr>
        <p:txBody>
          <a:bodyPr wrap="square" rtlCol="0" anchor="ctr"/>
          <a:lstStyle/>
          <a:p>
            <a:pPr marL="0" indent="0" algn="ctr">
              <a:buNone/>
            </a:pPr>
            <a:r>
              <a:rPr lang="en-US" sz="1400" b="1" dirty="0">
                <a:solidFill>
                  <a:srgbClr val="C9A227"/>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95528" y="3566160"/>
            <a:ext cx="393192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 public "State of the Gap" dashboard — easy-to-use visual tools tracking state performance.</a:t>
            </a:r>
            <a:endParaRPr lang="en-US" sz="1200" dirty="0"/>
          </a:p>
        </p:txBody>
      </p:sp>
      <p:sp>
        <p:nvSpPr>
          <p:cNvPr id="13" name="Shape 11"/>
          <p:cNvSpPr/>
          <p:nvPr/>
        </p:nvSpPr>
        <p:spPr>
          <a:xfrm>
            <a:off x="4754880" y="1005840"/>
            <a:ext cx="384048" cy="384048"/>
          </a:xfrm>
          <a:prstGeom prst="ellipse">
            <a:avLst/>
          </a:prstGeom>
          <a:solidFill>
            <a:srgbClr val="1B3A6B"/>
          </a:solidFill>
          <a:ln w="12700">
            <a:solidFill>
              <a:srgbClr val="1B3A6B"/>
            </a:solidFill>
            <a:prstDash val="solid"/>
          </a:ln>
        </p:spPr>
        <p:txBody>
          <a:bodyPr/>
          <a:lstStyle/>
          <a:p>
            <a:endParaRPr lang="en-US"/>
          </a:p>
        </p:txBody>
      </p:sp>
      <p:sp>
        <p:nvSpPr>
          <p:cNvPr id="14" name="Text 12"/>
          <p:cNvSpPr/>
          <p:nvPr/>
        </p:nvSpPr>
        <p:spPr>
          <a:xfrm>
            <a:off x="4754880" y="1005840"/>
            <a:ext cx="384048" cy="384048"/>
          </a:xfrm>
          <a:prstGeom prst="rect">
            <a:avLst/>
          </a:prstGeom>
          <a:noFill/>
          <a:ln/>
        </p:spPr>
        <p:txBody>
          <a:bodyPr wrap="square" rtlCol="0" anchor="ctr"/>
          <a:lstStyle/>
          <a:p>
            <a:pPr marL="0" indent="0" algn="ctr">
              <a:buNone/>
            </a:pPr>
            <a:r>
              <a:rPr lang="en-US" sz="1400" b="1" dirty="0">
                <a:solidFill>
                  <a:srgbClr val="C9A227"/>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5230368" y="1005840"/>
            <a:ext cx="393192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Budget alignment — money follows purpose, not politics.</a:t>
            </a:r>
            <a:endParaRPr lang="en-US" sz="1200" dirty="0"/>
          </a:p>
        </p:txBody>
      </p:sp>
      <p:sp>
        <p:nvSpPr>
          <p:cNvPr id="16" name="Shape 14"/>
          <p:cNvSpPr/>
          <p:nvPr/>
        </p:nvSpPr>
        <p:spPr>
          <a:xfrm>
            <a:off x="4754880" y="2286000"/>
            <a:ext cx="384048" cy="384048"/>
          </a:xfrm>
          <a:prstGeom prst="ellipse">
            <a:avLst/>
          </a:prstGeom>
          <a:solidFill>
            <a:srgbClr val="1B3A6B"/>
          </a:solidFill>
          <a:ln w="12700">
            <a:solidFill>
              <a:srgbClr val="1B3A6B"/>
            </a:solidFill>
            <a:prstDash val="solid"/>
          </a:ln>
        </p:spPr>
        <p:txBody>
          <a:bodyPr/>
          <a:lstStyle/>
          <a:p>
            <a:endParaRPr lang="en-US"/>
          </a:p>
        </p:txBody>
      </p:sp>
      <p:sp>
        <p:nvSpPr>
          <p:cNvPr id="17" name="Text 15"/>
          <p:cNvSpPr/>
          <p:nvPr/>
        </p:nvSpPr>
        <p:spPr>
          <a:xfrm>
            <a:off x="4754880" y="2286000"/>
            <a:ext cx="384048" cy="384048"/>
          </a:xfrm>
          <a:prstGeom prst="rect">
            <a:avLst/>
          </a:prstGeom>
          <a:noFill/>
          <a:ln/>
        </p:spPr>
        <p:txBody>
          <a:bodyPr wrap="square" rtlCol="0" anchor="ctr"/>
          <a:lstStyle/>
          <a:p>
            <a:pPr marL="0" indent="0" algn="ctr">
              <a:buNone/>
            </a:pPr>
            <a:r>
              <a:rPr lang="en-US" sz="1400" b="1" dirty="0">
                <a:solidFill>
                  <a:srgbClr val="C9A227"/>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5230368" y="2286000"/>
            <a:ext cx="393192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Legislative Analyst's Office (LAO) reports and hearings — regular, independent, nonpartisan analysis.</a:t>
            </a:r>
            <a:endParaRPr lang="en-US" sz="1200" dirty="0"/>
          </a:p>
        </p:txBody>
      </p:sp>
      <p:sp>
        <p:nvSpPr>
          <p:cNvPr id="19" name="Shape 17"/>
          <p:cNvSpPr/>
          <p:nvPr/>
        </p:nvSpPr>
        <p:spPr>
          <a:xfrm>
            <a:off x="4754880" y="3566160"/>
            <a:ext cx="384048" cy="384048"/>
          </a:xfrm>
          <a:prstGeom prst="ellipse">
            <a:avLst/>
          </a:prstGeom>
          <a:solidFill>
            <a:srgbClr val="1B3A6B"/>
          </a:solidFill>
          <a:ln w="12700">
            <a:solidFill>
              <a:srgbClr val="1B3A6B"/>
            </a:solidFill>
            <a:prstDash val="solid"/>
          </a:ln>
        </p:spPr>
        <p:txBody>
          <a:bodyPr/>
          <a:lstStyle/>
          <a:p>
            <a:endParaRPr lang="en-US"/>
          </a:p>
        </p:txBody>
      </p:sp>
      <p:sp>
        <p:nvSpPr>
          <p:cNvPr id="20" name="Text 18"/>
          <p:cNvSpPr/>
          <p:nvPr/>
        </p:nvSpPr>
        <p:spPr>
          <a:xfrm>
            <a:off x="4754880" y="3566160"/>
            <a:ext cx="384048" cy="384048"/>
          </a:xfrm>
          <a:prstGeom prst="rect">
            <a:avLst/>
          </a:prstGeom>
          <a:noFill/>
          <a:ln/>
        </p:spPr>
        <p:txBody>
          <a:bodyPr wrap="square" rtlCol="0" anchor="ctr"/>
          <a:lstStyle/>
          <a:p>
            <a:pPr marL="0" indent="0" algn="ctr">
              <a:buNone/>
            </a:pPr>
            <a:r>
              <a:rPr lang="en-US" sz="1400" b="1" dirty="0">
                <a:solidFill>
                  <a:srgbClr val="C9A227"/>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5230368" y="3566160"/>
            <a:ext cx="393192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 shift from compliance to customer service — the state supports districts according to their specific local needs.</a:t>
            </a:r>
            <a:endParaRPr lang="en-US" sz="1200" dirty="0"/>
          </a:p>
        </p:txBody>
      </p:sp>
      <p:sp>
        <p:nvSpPr>
          <p:cNvPr id="22" name="Shape 20"/>
          <p:cNvSpPr/>
          <p:nvPr/>
        </p:nvSpPr>
        <p:spPr>
          <a:xfrm>
            <a:off x="0" y="4800600"/>
            <a:ext cx="9144000" cy="342900"/>
          </a:xfrm>
          <a:prstGeom prst="rect">
            <a:avLst/>
          </a:prstGeom>
          <a:solidFill>
            <a:srgbClr val="1B3A6B"/>
          </a:solidFill>
          <a:ln w="12700">
            <a:solidFill>
              <a:srgbClr val="1B3A6B"/>
            </a:solidFill>
            <a:prstDash val="solid"/>
          </a:ln>
        </p:spPr>
        <p:txBody>
          <a:bodyPr/>
          <a:lstStyle/>
          <a:p>
            <a:endParaRPr lang="en-US"/>
          </a:p>
        </p:txBody>
      </p:sp>
      <p:sp>
        <p:nvSpPr>
          <p:cNvPr id="23" name="Text 21"/>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6E56"/>
          </a:solidFill>
          <a:ln w="12700">
            <a:solidFill>
              <a:srgbClr val="0F6E56"/>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VERA — Response to CSBA's Six Point Plan</a:t>
            </a:r>
            <a:endParaRPr lang="en-US" sz="2200" dirty="0"/>
          </a:p>
        </p:txBody>
      </p:sp>
      <p:sp>
        <p:nvSpPr>
          <p:cNvPr id="4" name="Text 2"/>
          <p:cNvSpPr/>
          <p:nvPr/>
        </p:nvSpPr>
        <p:spPr>
          <a:xfrm>
            <a:off x="365760" y="457200"/>
            <a:ext cx="8412480" cy="32004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Verification Engine for Results &amp; Accountability</a:t>
            </a:r>
            <a:endParaRPr lang="en-US" sz="1100" dirty="0"/>
          </a:p>
        </p:txBody>
      </p:sp>
      <p:sp>
        <p:nvSpPr>
          <p:cNvPr id="5" name="Shape 3"/>
          <p:cNvSpPr/>
          <p:nvPr/>
        </p:nvSpPr>
        <p:spPr>
          <a:xfrm>
            <a:off x="228600" y="914400"/>
            <a:ext cx="4251960" cy="1234440"/>
          </a:xfrm>
          <a:prstGeom prst="rect">
            <a:avLst/>
          </a:prstGeom>
          <a:solidFill>
            <a:srgbClr val="FFFFFF"/>
          </a:solidFill>
          <a:ln w="6350">
            <a:solidFill>
              <a:srgbClr val="D0D8E8"/>
            </a:solidFill>
            <a:prstDash val="solid"/>
          </a:ln>
        </p:spPr>
        <p:txBody>
          <a:bodyPr/>
          <a:lstStyle/>
          <a:p>
            <a:endParaRPr lang="en-US"/>
          </a:p>
        </p:txBody>
      </p:sp>
      <p:sp>
        <p:nvSpPr>
          <p:cNvPr id="6" name="Shape 4"/>
          <p:cNvSpPr/>
          <p:nvPr/>
        </p:nvSpPr>
        <p:spPr>
          <a:xfrm>
            <a:off x="320040" y="1005840"/>
            <a:ext cx="320040" cy="320040"/>
          </a:xfrm>
          <a:prstGeom prst="ellipse">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320040" y="10058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04088" y="987552"/>
            <a:ext cx="3657600" cy="292608"/>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Clear, measurable state goals</a:t>
            </a:r>
            <a:endParaRPr lang="en-US" sz="1000" dirty="0"/>
          </a:p>
        </p:txBody>
      </p:sp>
      <p:sp>
        <p:nvSpPr>
          <p:cNvPr id="9" name="Text 7"/>
          <p:cNvSpPr/>
          <p:nvPr/>
        </p:nvSpPr>
        <p:spPr>
          <a:xfrm>
            <a:off x="320040" y="1298448"/>
            <a:ext cx="4023360" cy="804672"/>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VERA produces district-level measurements of whether LCAP interventions are closing the oral-written gap, giving CDE, the State Board, and CCEE a concrete, verifiable metric to anchor state goals against.</a:t>
            </a:r>
            <a:endParaRPr lang="en-US" sz="950" dirty="0"/>
          </a:p>
        </p:txBody>
      </p:sp>
      <p:sp>
        <p:nvSpPr>
          <p:cNvPr id="10" name="Shape 8"/>
          <p:cNvSpPr/>
          <p:nvPr/>
        </p:nvSpPr>
        <p:spPr>
          <a:xfrm>
            <a:off x="228600" y="2286000"/>
            <a:ext cx="4251960" cy="1234440"/>
          </a:xfrm>
          <a:prstGeom prst="rect">
            <a:avLst/>
          </a:prstGeom>
          <a:solidFill>
            <a:srgbClr val="FFFFFF"/>
          </a:solidFill>
          <a:ln w="6350">
            <a:solidFill>
              <a:srgbClr val="D0D8E8"/>
            </a:solidFill>
            <a:prstDash val="solid"/>
          </a:ln>
        </p:spPr>
        <p:txBody>
          <a:bodyPr/>
          <a:lstStyle/>
          <a:p>
            <a:endParaRPr lang="en-US"/>
          </a:p>
        </p:txBody>
      </p:sp>
      <p:sp>
        <p:nvSpPr>
          <p:cNvPr id="11" name="Shape 9"/>
          <p:cNvSpPr/>
          <p:nvPr/>
        </p:nvSpPr>
        <p:spPr>
          <a:xfrm>
            <a:off x="320040" y="2377440"/>
            <a:ext cx="320040" cy="320040"/>
          </a:xfrm>
          <a:prstGeom prst="ellipse">
            <a:avLst/>
          </a:prstGeom>
          <a:solidFill>
            <a:srgbClr val="0F6E56"/>
          </a:solidFill>
          <a:ln w="12700">
            <a:solidFill>
              <a:srgbClr val="0F6E56"/>
            </a:solidFill>
            <a:prstDash val="solid"/>
          </a:ln>
        </p:spPr>
        <p:txBody>
          <a:bodyPr/>
          <a:lstStyle/>
          <a:p>
            <a:endParaRPr lang="en-US"/>
          </a:p>
        </p:txBody>
      </p:sp>
      <p:sp>
        <p:nvSpPr>
          <p:cNvPr id="12" name="Text 10"/>
          <p:cNvSpPr/>
          <p:nvPr/>
        </p:nvSpPr>
        <p:spPr>
          <a:xfrm>
            <a:off x="320040" y="23774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704088" y="2359152"/>
            <a:ext cx="3657600" cy="292608"/>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Annual benchmarks and transparent reporting</a:t>
            </a:r>
            <a:endParaRPr lang="en-US" sz="1000" dirty="0"/>
          </a:p>
        </p:txBody>
      </p:sp>
      <p:sp>
        <p:nvSpPr>
          <p:cNvPr id="14" name="Text 12"/>
          <p:cNvSpPr/>
          <p:nvPr/>
        </p:nvSpPr>
        <p:spPr>
          <a:xfrm>
            <a:off x="320040" y="2670048"/>
            <a:ext cx="4023360" cy="804672"/>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VERA runs on publicly available CAASPP and ELPAC data updated annually, generating match-rate reports that benchmark district performance year over year.</a:t>
            </a:r>
            <a:endParaRPr lang="en-US" sz="950" dirty="0"/>
          </a:p>
        </p:txBody>
      </p:sp>
      <p:sp>
        <p:nvSpPr>
          <p:cNvPr id="15" name="Shape 13"/>
          <p:cNvSpPr/>
          <p:nvPr/>
        </p:nvSpPr>
        <p:spPr>
          <a:xfrm>
            <a:off x="228600" y="3657600"/>
            <a:ext cx="4251960" cy="1234440"/>
          </a:xfrm>
          <a:prstGeom prst="rect">
            <a:avLst/>
          </a:prstGeom>
          <a:solidFill>
            <a:srgbClr val="FFFFFF"/>
          </a:solidFill>
          <a:ln w="6350">
            <a:solidFill>
              <a:srgbClr val="D0D8E8"/>
            </a:solidFill>
            <a:prstDash val="solid"/>
          </a:ln>
        </p:spPr>
        <p:txBody>
          <a:bodyPr/>
          <a:lstStyle/>
          <a:p>
            <a:endParaRPr lang="en-US"/>
          </a:p>
        </p:txBody>
      </p:sp>
      <p:sp>
        <p:nvSpPr>
          <p:cNvPr id="16" name="Shape 14"/>
          <p:cNvSpPr/>
          <p:nvPr/>
        </p:nvSpPr>
        <p:spPr>
          <a:xfrm>
            <a:off x="320040" y="3749040"/>
            <a:ext cx="320040" cy="320040"/>
          </a:xfrm>
          <a:prstGeom prst="ellipse">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320040" y="37490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704088" y="3730752"/>
            <a:ext cx="3657600" cy="292608"/>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A public "State of the Gap" dashboard</a:t>
            </a:r>
            <a:endParaRPr lang="en-US" sz="1000" dirty="0"/>
          </a:p>
        </p:txBody>
      </p:sp>
      <p:sp>
        <p:nvSpPr>
          <p:cNvPr id="19" name="Text 17"/>
          <p:cNvSpPr/>
          <p:nvPr/>
        </p:nvSpPr>
        <p:spPr>
          <a:xfrm>
            <a:off x="320040" y="4041648"/>
            <a:ext cx="4023360" cy="804672"/>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VERA is the data engine that powers exactly this. Its output is a district-by-district accountability report that can be surfaced as a public-facing dashboard.</a:t>
            </a:r>
            <a:endParaRPr lang="en-US" sz="950" dirty="0"/>
          </a:p>
        </p:txBody>
      </p:sp>
      <p:sp>
        <p:nvSpPr>
          <p:cNvPr id="20" name="Shape 18"/>
          <p:cNvSpPr/>
          <p:nvPr/>
        </p:nvSpPr>
        <p:spPr>
          <a:xfrm>
            <a:off x="4709160" y="914400"/>
            <a:ext cx="4251960" cy="1234440"/>
          </a:xfrm>
          <a:prstGeom prst="rect">
            <a:avLst/>
          </a:prstGeom>
          <a:solidFill>
            <a:srgbClr val="FFFFFF"/>
          </a:solidFill>
          <a:ln w="6350">
            <a:solidFill>
              <a:srgbClr val="D0D8E8"/>
            </a:solidFill>
            <a:prstDash val="solid"/>
          </a:ln>
        </p:spPr>
        <p:txBody>
          <a:bodyPr/>
          <a:lstStyle/>
          <a:p>
            <a:endParaRPr lang="en-US"/>
          </a:p>
        </p:txBody>
      </p:sp>
      <p:sp>
        <p:nvSpPr>
          <p:cNvPr id="21" name="Shape 19"/>
          <p:cNvSpPr/>
          <p:nvPr/>
        </p:nvSpPr>
        <p:spPr>
          <a:xfrm>
            <a:off x="4800600" y="1005840"/>
            <a:ext cx="320040" cy="320040"/>
          </a:xfrm>
          <a:prstGeom prst="ellipse">
            <a:avLst/>
          </a:prstGeom>
          <a:solidFill>
            <a:srgbClr val="0F6E56"/>
          </a:solidFill>
          <a:ln w="12700">
            <a:solidFill>
              <a:srgbClr val="0F6E56"/>
            </a:solidFill>
            <a:prstDash val="solid"/>
          </a:ln>
        </p:spPr>
        <p:txBody>
          <a:bodyPr/>
          <a:lstStyle/>
          <a:p>
            <a:endParaRPr lang="en-US"/>
          </a:p>
        </p:txBody>
      </p:sp>
      <p:sp>
        <p:nvSpPr>
          <p:cNvPr id="22" name="Text 20"/>
          <p:cNvSpPr/>
          <p:nvPr/>
        </p:nvSpPr>
        <p:spPr>
          <a:xfrm>
            <a:off x="4800600" y="10058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5184648" y="987552"/>
            <a:ext cx="3657600" cy="292608"/>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Budget alignment</a:t>
            </a:r>
            <a:endParaRPr lang="en-US" sz="1000" dirty="0"/>
          </a:p>
        </p:txBody>
      </p:sp>
      <p:sp>
        <p:nvSpPr>
          <p:cNvPr id="24" name="Text 22"/>
          <p:cNvSpPr/>
          <p:nvPr/>
        </p:nvSpPr>
        <p:spPr>
          <a:xfrm>
            <a:off x="4800600" y="1298448"/>
            <a:ext cx="4023360" cy="804672"/>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VERA identifies which districts have the highest-need Type 4 students and the widest gaps, giving state budget allocations a data-driven target rather than a political one.</a:t>
            </a:r>
            <a:endParaRPr lang="en-US" sz="950" dirty="0"/>
          </a:p>
        </p:txBody>
      </p:sp>
      <p:sp>
        <p:nvSpPr>
          <p:cNvPr id="25" name="Shape 23"/>
          <p:cNvSpPr/>
          <p:nvPr/>
        </p:nvSpPr>
        <p:spPr>
          <a:xfrm>
            <a:off x="4709160" y="2286000"/>
            <a:ext cx="4251960" cy="1234440"/>
          </a:xfrm>
          <a:prstGeom prst="rect">
            <a:avLst/>
          </a:prstGeom>
          <a:solidFill>
            <a:srgbClr val="FFFFFF"/>
          </a:solidFill>
          <a:ln w="6350">
            <a:solidFill>
              <a:srgbClr val="D0D8E8"/>
            </a:solidFill>
            <a:prstDash val="solid"/>
          </a:ln>
        </p:spPr>
        <p:txBody>
          <a:bodyPr/>
          <a:lstStyle/>
          <a:p>
            <a:endParaRPr lang="en-US"/>
          </a:p>
        </p:txBody>
      </p:sp>
      <p:sp>
        <p:nvSpPr>
          <p:cNvPr id="26" name="Shape 24"/>
          <p:cNvSpPr/>
          <p:nvPr/>
        </p:nvSpPr>
        <p:spPr>
          <a:xfrm>
            <a:off x="4800600" y="2377440"/>
            <a:ext cx="320040" cy="320040"/>
          </a:xfrm>
          <a:prstGeom prst="ellipse">
            <a:avLst/>
          </a:prstGeom>
          <a:solidFill>
            <a:srgbClr val="0F6E56"/>
          </a:solidFill>
          <a:ln w="12700">
            <a:solidFill>
              <a:srgbClr val="0F6E56"/>
            </a:solidFill>
            <a:prstDash val="solid"/>
          </a:ln>
        </p:spPr>
        <p:txBody>
          <a:bodyPr/>
          <a:lstStyle/>
          <a:p>
            <a:endParaRPr lang="en-US"/>
          </a:p>
        </p:txBody>
      </p:sp>
      <p:sp>
        <p:nvSpPr>
          <p:cNvPr id="27" name="Text 25"/>
          <p:cNvSpPr/>
          <p:nvPr/>
        </p:nvSpPr>
        <p:spPr>
          <a:xfrm>
            <a:off x="4800600" y="23774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5184648" y="2359152"/>
            <a:ext cx="3657600" cy="292608"/>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LAO reports and hearings</a:t>
            </a:r>
            <a:endParaRPr lang="en-US" sz="1000" dirty="0"/>
          </a:p>
        </p:txBody>
      </p:sp>
      <p:sp>
        <p:nvSpPr>
          <p:cNvPr id="29" name="Text 27"/>
          <p:cNvSpPr/>
          <p:nvPr/>
        </p:nvSpPr>
        <p:spPr>
          <a:xfrm>
            <a:off x="4800600" y="2670048"/>
            <a:ext cx="4023360" cy="804672"/>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VERA's match-rate reports provide the independent, verifiable data the LAO would need to conduct nonpartisan analysis of whether state education programs are working.</a:t>
            </a:r>
            <a:endParaRPr lang="en-US" sz="950" dirty="0"/>
          </a:p>
        </p:txBody>
      </p:sp>
      <p:sp>
        <p:nvSpPr>
          <p:cNvPr id="30" name="Shape 28"/>
          <p:cNvSpPr/>
          <p:nvPr/>
        </p:nvSpPr>
        <p:spPr>
          <a:xfrm>
            <a:off x="4709160" y="3657600"/>
            <a:ext cx="4251960" cy="1234440"/>
          </a:xfrm>
          <a:prstGeom prst="rect">
            <a:avLst/>
          </a:prstGeom>
          <a:solidFill>
            <a:srgbClr val="FFFFFF"/>
          </a:solidFill>
          <a:ln w="6350">
            <a:solidFill>
              <a:srgbClr val="D0D8E8"/>
            </a:solidFill>
            <a:prstDash val="solid"/>
          </a:ln>
        </p:spPr>
        <p:txBody>
          <a:bodyPr/>
          <a:lstStyle/>
          <a:p>
            <a:endParaRPr lang="en-US"/>
          </a:p>
        </p:txBody>
      </p:sp>
      <p:sp>
        <p:nvSpPr>
          <p:cNvPr id="31" name="Shape 29"/>
          <p:cNvSpPr/>
          <p:nvPr/>
        </p:nvSpPr>
        <p:spPr>
          <a:xfrm>
            <a:off x="4800600" y="3749040"/>
            <a:ext cx="320040" cy="320040"/>
          </a:xfrm>
          <a:prstGeom prst="ellipse">
            <a:avLst/>
          </a:prstGeom>
          <a:solidFill>
            <a:srgbClr val="0F6E56"/>
          </a:solidFill>
          <a:ln w="12700">
            <a:solidFill>
              <a:srgbClr val="0F6E56"/>
            </a:solidFill>
            <a:prstDash val="solid"/>
          </a:ln>
        </p:spPr>
        <p:txBody>
          <a:bodyPr/>
          <a:lstStyle/>
          <a:p>
            <a:endParaRPr lang="en-US"/>
          </a:p>
        </p:txBody>
      </p:sp>
      <p:sp>
        <p:nvSpPr>
          <p:cNvPr id="32" name="Text 30"/>
          <p:cNvSpPr/>
          <p:nvPr/>
        </p:nvSpPr>
        <p:spPr>
          <a:xfrm>
            <a:off x="4800600" y="374904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5184648" y="3730752"/>
            <a:ext cx="3657600" cy="292608"/>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A shift from compliance to customer service</a:t>
            </a:r>
            <a:endParaRPr lang="en-US" sz="1000" dirty="0"/>
          </a:p>
        </p:txBody>
      </p:sp>
      <p:sp>
        <p:nvSpPr>
          <p:cNvPr id="34" name="Text 32"/>
          <p:cNvSpPr/>
          <p:nvPr/>
        </p:nvSpPr>
        <p:spPr>
          <a:xfrm>
            <a:off x="4800600" y="4041648"/>
            <a:ext cx="4023360" cy="804672"/>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VERA does not add reporting burden to districts. It pulls public data and returns a report. Districts receive intelligence, not a mandate.</a:t>
            </a:r>
            <a:endParaRPr lang="en-US" sz="950" dirty="0"/>
          </a:p>
        </p:txBody>
      </p:sp>
      <p:sp>
        <p:nvSpPr>
          <p:cNvPr id="35" name="Shape 33"/>
          <p:cNvSpPr/>
          <p:nvPr/>
        </p:nvSpPr>
        <p:spPr>
          <a:xfrm>
            <a:off x="0" y="4800600"/>
            <a:ext cx="9144000" cy="342900"/>
          </a:xfrm>
          <a:prstGeom prst="rect">
            <a:avLst/>
          </a:prstGeom>
          <a:solidFill>
            <a:srgbClr val="1B3A6B"/>
          </a:solidFill>
          <a:ln w="12700">
            <a:solidFill>
              <a:srgbClr val="1B3A6B"/>
            </a:solidFill>
            <a:prstDash val="solid"/>
          </a:ln>
        </p:spPr>
        <p:txBody>
          <a:bodyPr/>
          <a:lstStyle/>
          <a:p>
            <a:endParaRPr lang="en-US"/>
          </a:p>
        </p:txBody>
      </p:sp>
      <p:sp>
        <p:nvSpPr>
          <p:cNvPr id="36" name="Text 34"/>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 &amp; The Achievement Gap</a:t>
            </a:r>
            <a:endParaRPr lang="en-US" sz="2200" dirty="0"/>
          </a:p>
        </p:txBody>
      </p:sp>
      <p:sp>
        <p:nvSpPr>
          <p:cNvPr id="4" name="Shape 2"/>
          <p:cNvSpPr/>
          <p:nvPr/>
        </p:nvSpPr>
        <p:spPr>
          <a:xfrm>
            <a:off x="228600" y="914400"/>
            <a:ext cx="4206240" cy="347472"/>
          </a:xfrm>
          <a:prstGeom prst="rect">
            <a:avLst/>
          </a:prstGeom>
          <a:solidFill>
            <a:srgbClr val="C0392B"/>
          </a:solidFill>
          <a:ln w="12700">
            <a:solidFill>
              <a:srgbClr val="C0392B"/>
            </a:solidFill>
            <a:prstDash val="solid"/>
          </a:ln>
        </p:spPr>
        <p:txBody>
          <a:bodyPr/>
          <a:lstStyle/>
          <a:p>
            <a:endParaRPr lang="en-US"/>
          </a:p>
        </p:txBody>
      </p:sp>
      <p:sp>
        <p:nvSpPr>
          <p:cNvPr id="5" name="Text 3"/>
          <p:cNvSpPr/>
          <p:nvPr/>
        </p:nvSpPr>
        <p:spPr>
          <a:xfrm>
            <a:off x="228600" y="914400"/>
            <a:ext cx="420624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 exacerbates the problem ....</a:t>
            </a:r>
            <a:endParaRPr lang="en-US" sz="1200" dirty="0"/>
          </a:p>
        </p:txBody>
      </p:sp>
      <p:pic>
        <p:nvPicPr>
          <p:cNvPr id="6" name="Image 0" descr="/home/claude/image2.png"/>
          <p:cNvPicPr>
            <a:picLocks noChangeAspect="1"/>
          </p:cNvPicPr>
          <p:nvPr/>
        </p:nvPicPr>
        <p:blipFill>
          <a:blip r:embed="rId3"/>
          <a:stretch>
            <a:fillRect/>
          </a:stretch>
        </p:blipFill>
        <p:spPr>
          <a:xfrm>
            <a:off x="228600" y="1298448"/>
            <a:ext cx="4206240" cy="3200400"/>
          </a:xfrm>
          <a:prstGeom prst="rect">
            <a:avLst/>
          </a:prstGeom>
        </p:spPr>
      </p:pic>
      <p:sp>
        <p:nvSpPr>
          <p:cNvPr id="7" name="Shape 4"/>
          <p:cNvSpPr/>
          <p:nvPr/>
        </p:nvSpPr>
        <p:spPr>
          <a:xfrm>
            <a:off x="4709160" y="914400"/>
            <a:ext cx="4206240" cy="347472"/>
          </a:xfrm>
          <a:prstGeom prst="rect">
            <a:avLst/>
          </a:prstGeom>
          <a:solidFill>
            <a:srgbClr val="0F6E56"/>
          </a:solidFill>
          <a:ln w="12700">
            <a:solidFill>
              <a:srgbClr val="0F6E56"/>
            </a:solidFill>
            <a:prstDash val="solid"/>
          </a:ln>
        </p:spPr>
        <p:txBody>
          <a:bodyPr/>
          <a:lstStyle/>
          <a:p>
            <a:endParaRPr lang="en-US"/>
          </a:p>
        </p:txBody>
      </p:sp>
      <p:sp>
        <p:nvSpPr>
          <p:cNvPr id="8" name="Text 5"/>
          <p:cNvSpPr/>
          <p:nvPr/>
        </p:nvSpPr>
        <p:spPr>
          <a:xfrm>
            <a:off x="4709160" y="914400"/>
            <a:ext cx="420624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And, AI accelerates the solution ....</a:t>
            </a:r>
            <a:endParaRPr lang="en-US" sz="1200" dirty="0"/>
          </a:p>
        </p:txBody>
      </p:sp>
      <p:pic>
        <p:nvPicPr>
          <p:cNvPr id="9" name="Image 1" descr="/home/claude/image3.png"/>
          <p:cNvPicPr>
            <a:picLocks noChangeAspect="1"/>
          </p:cNvPicPr>
          <p:nvPr/>
        </p:nvPicPr>
        <p:blipFill>
          <a:blip r:embed="rId4"/>
          <a:stretch>
            <a:fillRect/>
          </a:stretch>
        </p:blipFill>
        <p:spPr>
          <a:xfrm>
            <a:off x="4709160" y="1298448"/>
            <a:ext cx="4206240" cy="3200400"/>
          </a:xfrm>
          <a:prstGeom prst="rect">
            <a:avLst/>
          </a:prstGeom>
        </p:spPr>
      </p:pic>
      <p:sp>
        <p:nvSpPr>
          <p:cNvPr id="10" name="Text 6"/>
          <p:cNvSpPr/>
          <p:nvPr/>
        </p:nvSpPr>
        <p:spPr>
          <a:xfrm>
            <a:off x="228600" y="4572000"/>
            <a:ext cx="8686800" cy="457200"/>
          </a:xfrm>
          <a:prstGeom prst="rect">
            <a:avLst/>
          </a:prstGeom>
          <a:noFill/>
          <a:ln/>
        </p:spPr>
        <p:txBody>
          <a:bodyPr wrap="square" rtlCol="0" anchor="ctr"/>
          <a:lstStyle/>
          <a:p>
            <a:pPr marL="0" indent="0" algn="ctr">
              <a:buNone/>
            </a:pPr>
            <a:r>
              <a:rPr lang="en-US" sz="1000" i="1" dirty="0">
                <a:solidFill>
                  <a:srgbClr val="5A6A8A"/>
                </a:solidFill>
                <a:latin typeface="Calibri" pitchFamily="34" charset="0"/>
                <a:ea typeface="Calibri" pitchFamily="34" charset="-122"/>
                <a:cs typeface="Calibri" pitchFamily="34" charset="-120"/>
              </a:rPr>
              <a:t>The achievement gap was a moral problem for fifty years. AI just turned it into an economic emergency — and the students we can still reach are in 3rd and 4th grade right now.</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6B"/>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Context Protocol</a:t>
            </a:r>
            <a:endParaRPr lang="en-US" sz="2800" dirty="0"/>
          </a:p>
        </p:txBody>
      </p:sp>
      <p:sp>
        <p:nvSpPr>
          <p:cNvPr id="3" name="Shape 1"/>
          <p:cNvSpPr/>
          <p:nvPr/>
        </p:nvSpPr>
        <p:spPr>
          <a:xfrm>
            <a:off x="457200" y="1051560"/>
            <a:ext cx="3200400" cy="36576"/>
          </a:xfrm>
          <a:prstGeom prst="rect">
            <a:avLst/>
          </a:prstGeom>
          <a:solidFill>
            <a:srgbClr val="C9A227"/>
          </a:solidFill>
          <a:ln w="12700">
            <a:solidFill>
              <a:srgbClr val="C9A227"/>
            </a:solidFill>
            <a:prstDash val="solid"/>
          </a:ln>
        </p:spPr>
        <p:txBody>
          <a:bodyPr/>
          <a:lstStyle/>
          <a:p>
            <a:endParaRPr lang="en-US"/>
          </a:p>
        </p:txBody>
      </p:sp>
      <p:sp>
        <p:nvSpPr>
          <p:cNvPr id="4" name="Shape 2"/>
          <p:cNvSpPr/>
          <p:nvPr/>
        </p:nvSpPr>
        <p:spPr>
          <a:xfrm>
            <a:off x="365760" y="1234440"/>
            <a:ext cx="2651760" cy="1645920"/>
          </a:xfrm>
          <a:prstGeom prst="rect">
            <a:avLst/>
          </a:prstGeom>
          <a:solidFill>
            <a:srgbClr val="2A5298"/>
          </a:solidFill>
          <a:ln w="12700">
            <a:solidFill>
              <a:srgbClr val="2A5298"/>
            </a:solidFill>
            <a:prstDash val="solid"/>
          </a:ln>
        </p:spPr>
        <p:txBody>
          <a:bodyPr/>
          <a:lstStyle/>
          <a:p>
            <a:endParaRPr lang="en-US"/>
          </a:p>
        </p:txBody>
      </p:sp>
      <p:sp>
        <p:nvSpPr>
          <p:cNvPr id="5" name="Text 3"/>
          <p:cNvSpPr/>
          <p:nvPr/>
        </p:nvSpPr>
        <p:spPr>
          <a:xfrm>
            <a:off x="365760" y="1234440"/>
            <a:ext cx="2651760" cy="475488"/>
          </a:xfrm>
          <a:prstGeom prst="rect">
            <a:avLst/>
          </a:prstGeom>
          <a:noFill/>
          <a:ln/>
        </p:spPr>
        <p:txBody>
          <a:bodyPr wrap="square" rtlCol="0" anchor="ctr"/>
          <a:lstStyle/>
          <a:p>
            <a:pPr marL="0" indent="0" algn="ctr">
              <a:buNone/>
            </a:pPr>
            <a:r>
              <a:rPr lang="en-US" sz="1600" b="1" kern="0" spc="300" dirty="0">
                <a:solidFill>
                  <a:srgbClr val="C9A227"/>
                </a:solidFill>
                <a:latin typeface="Calibri" pitchFamily="34" charset="0"/>
                <a:ea typeface="Calibri" pitchFamily="34" charset="-122"/>
                <a:cs typeface="Calibri" pitchFamily="34" charset="-120"/>
              </a:rPr>
              <a:t>MODEL</a:t>
            </a:r>
            <a:endParaRPr lang="en-US" sz="1600" dirty="0"/>
          </a:p>
        </p:txBody>
      </p:sp>
      <p:sp>
        <p:nvSpPr>
          <p:cNvPr id="6" name="Shape 4"/>
          <p:cNvSpPr/>
          <p:nvPr/>
        </p:nvSpPr>
        <p:spPr>
          <a:xfrm>
            <a:off x="365760" y="1709928"/>
            <a:ext cx="2651760" cy="36576"/>
          </a:xfrm>
          <a:prstGeom prst="rect">
            <a:avLst/>
          </a:prstGeom>
          <a:solidFill>
            <a:srgbClr val="C9A227"/>
          </a:solidFill>
          <a:ln w="12700">
            <a:solidFill>
              <a:srgbClr val="C9A227"/>
            </a:solidFill>
            <a:prstDash val="solid"/>
          </a:ln>
        </p:spPr>
        <p:txBody>
          <a:bodyPr/>
          <a:lstStyle/>
          <a:p>
            <a:endParaRPr lang="en-US"/>
          </a:p>
        </p:txBody>
      </p:sp>
      <p:sp>
        <p:nvSpPr>
          <p:cNvPr id="7" name="Text 5"/>
          <p:cNvSpPr/>
          <p:nvPr/>
        </p:nvSpPr>
        <p:spPr>
          <a:xfrm>
            <a:off x="365760" y="1755648"/>
            <a:ext cx="2651760" cy="10972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The AI model</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(Claude, GPT, Gemini)</a:t>
            </a:r>
            <a:endParaRPr lang="en-US" sz="1100" dirty="0"/>
          </a:p>
        </p:txBody>
      </p:sp>
      <p:sp>
        <p:nvSpPr>
          <p:cNvPr id="8" name="Shape 6"/>
          <p:cNvSpPr/>
          <p:nvPr/>
        </p:nvSpPr>
        <p:spPr>
          <a:xfrm>
            <a:off x="3291840" y="1234440"/>
            <a:ext cx="2651760" cy="1645920"/>
          </a:xfrm>
          <a:prstGeom prst="rect">
            <a:avLst/>
          </a:prstGeom>
          <a:solidFill>
            <a:srgbClr val="0F6E56"/>
          </a:solidFill>
          <a:ln w="12700">
            <a:solidFill>
              <a:srgbClr val="0F6E56"/>
            </a:solidFill>
            <a:prstDash val="solid"/>
          </a:ln>
        </p:spPr>
        <p:txBody>
          <a:bodyPr/>
          <a:lstStyle/>
          <a:p>
            <a:endParaRPr lang="en-US"/>
          </a:p>
        </p:txBody>
      </p:sp>
      <p:sp>
        <p:nvSpPr>
          <p:cNvPr id="9" name="Text 7"/>
          <p:cNvSpPr/>
          <p:nvPr/>
        </p:nvSpPr>
        <p:spPr>
          <a:xfrm>
            <a:off x="3291840" y="1234440"/>
            <a:ext cx="2651760" cy="475488"/>
          </a:xfrm>
          <a:prstGeom prst="rect">
            <a:avLst/>
          </a:prstGeom>
          <a:noFill/>
          <a:ln/>
        </p:spPr>
        <p:txBody>
          <a:bodyPr wrap="square" rtlCol="0" anchor="ctr"/>
          <a:lstStyle/>
          <a:p>
            <a:pPr marL="0" indent="0" algn="ctr">
              <a:buNone/>
            </a:pPr>
            <a:r>
              <a:rPr lang="en-US" sz="1600" b="1" kern="0" spc="300" dirty="0">
                <a:solidFill>
                  <a:srgbClr val="C9A227"/>
                </a:solidFill>
                <a:latin typeface="Calibri" pitchFamily="34" charset="0"/>
                <a:ea typeface="Calibri" pitchFamily="34" charset="-122"/>
                <a:cs typeface="Calibri" pitchFamily="34" charset="-120"/>
              </a:rPr>
              <a:t>CONTEXT</a:t>
            </a:r>
            <a:endParaRPr lang="en-US" sz="1600" dirty="0"/>
          </a:p>
        </p:txBody>
      </p:sp>
      <p:sp>
        <p:nvSpPr>
          <p:cNvPr id="10" name="Shape 8"/>
          <p:cNvSpPr/>
          <p:nvPr/>
        </p:nvSpPr>
        <p:spPr>
          <a:xfrm>
            <a:off x="3291840" y="1709928"/>
            <a:ext cx="2651760" cy="36576"/>
          </a:xfrm>
          <a:prstGeom prst="rect">
            <a:avLst/>
          </a:prstGeom>
          <a:solidFill>
            <a:srgbClr val="C9A227"/>
          </a:solidFill>
          <a:ln w="12700">
            <a:solidFill>
              <a:srgbClr val="C9A227"/>
            </a:solidFill>
            <a:prstDash val="solid"/>
          </a:ln>
        </p:spPr>
        <p:txBody>
          <a:bodyPr/>
          <a:lstStyle/>
          <a:p>
            <a:endParaRPr lang="en-US"/>
          </a:p>
        </p:txBody>
      </p:sp>
      <p:sp>
        <p:nvSpPr>
          <p:cNvPr id="11" name="Text 9"/>
          <p:cNvSpPr/>
          <p:nvPr/>
        </p:nvSpPr>
        <p:spPr>
          <a:xfrm>
            <a:off x="3291840" y="1755648"/>
            <a:ext cx="2651760" cy="10972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The external data and tools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the model needs to do useful work</a:t>
            </a:r>
            <a:endParaRPr lang="en-US" sz="1100" dirty="0"/>
          </a:p>
        </p:txBody>
      </p:sp>
      <p:sp>
        <p:nvSpPr>
          <p:cNvPr id="12" name="Shape 10"/>
          <p:cNvSpPr/>
          <p:nvPr/>
        </p:nvSpPr>
        <p:spPr>
          <a:xfrm>
            <a:off x="6217920" y="1234440"/>
            <a:ext cx="2651760" cy="1645920"/>
          </a:xfrm>
          <a:prstGeom prst="rect">
            <a:avLst/>
          </a:prstGeom>
          <a:solidFill>
            <a:srgbClr val="6D3B8A"/>
          </a:solidFill>
          <a:ln w="12700">
            <a:solidFill>
              <a:srgbClr val="6D3B8A"/>
            </a:solidFill>
            <a:prstDash val="solid"/>
          </a:ln>
        </p:spPr>
        <p:txBody>
          <a:bodyPr/>
          <a:lstStyle/>
          <a:p>
            <a:endParaRPr lang="en-US"/>
          </a:p>
        </p:txBody>
      </p:sp>
      <p:sp>
        <p:nvSpPr>
          <p:cNvPr id="13" name="Text 11"/>
          <p:cNvSpPr/>
          <p:nvPr/>
        </p:nvSpPr>
        <p:spPr>
          <a:xfrm>
            <a:off x="6217920" y="1234440"/>
            <a:ext cx="2651760" cy="475488"/>
          </a:xfrm>
          <a:prstGeom prst="rect">
            <a:avLst/>
          </a:prstGeom>
          <a:noFill/>
          <a:ln/>
        </p:spPr>
        <p:txBody>
          <a:bodyPr wrap="square" rtlCol="0" anchor="ctr"/>
          <a:lstStyle/>
          <a:p>
            <a:pPr marL="0" indent="0" algn="ctr">
              <a:buNone/>
            </a:pPr>
            <a:r>
              <a:rPr lang="en-US" sz="1600" b="1" kern="0" spc="300" dirty="0">
                <a:solidFill>
                  <a:srgbClr val="C9A227"/>
                </a:solidFill>
                <a:latin typeface="Calibri" pitchFamily="34" charset="0"/>
                <a:ea typeface="Calibri" pitchFamily="34" charset="-122"/>
                <a:cs typeface="Calibri" pitchFamily="34" charset="-120"/>
              </a:rPr>
              <a:t>PROTOCOL</a:t>
            </a:r>
            <a:endParaRPr lang="en-US" sz="1600" dirty="0"/>
          </a:p>
        </p:txBody>
      </p:sp>
      <p:sp>
        <p:nvSpPr>
          <p:cNvPr id="14" name="Shape 12"/>
          <p:cNvSpPr/>
          <p:nvPr/>
        </p:nvSpPr>
        <p:spPr>
          <a:xfrm>
            <a:off x="6217920" y="1709928"/>
            <a:ext cx="2651760" cy="36576"/>
          </a:xfrm>
          <a:prstGeom prst="rect">
            <a:avLst/>
          </a:prstGeom>
          <a:solidFill>
            <a:srgbClr val="C9A227"/>
          </a:solidFill>
          <a:ln w="12700">
            <a:solidFill>
              <a:srgbClr val="C9A227"/>
            </a:solidFill>
            <a:prstDash val="solid"/>
          </a:ln>
        </p:spPr>
        <p:txBody>
          <a:bodyPr/>
          <a:lstStyle/>
          <a:p>
            <a:endParaRPr lang="en-US"/>
          </a:p>
        </p:txBody>
      </p:sp>
      <p:sp>
        <p:nvSpPr>
          <p:cNvPr id="15" name="Text 13"/>
          <p:cNvSpPr/>
          <p:nvPr/>
        </p:nvSpPr>
        <p:spPr>
          <a:xfrm>
            <a:off x="6217920" y="1755648"/>
            <a:ext cx="2651760" cy="109728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The standardized rules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governing how that connection is made</a:t>
            </a:r>
            <a:endParaRPr lang="en-US" sz="1100" dirty="0"/>
          </a:p>
        </p:txBody>
      </p:sp>
      <p:sp>
        <p:nvSpPr>
          <p:cNvPr id="16" name="Text 14"/>
          <p:cNvSpPr/>
          <p:nvPr/>
        </p:nvSpPr>
        <p:spPr>
          <a:xfrm>
            <a:off x="365760" y="3063240"/>
            <a:ext cx="8412480" cy="1645920"/>
          </a:xfrm>
          <a:prstGeom prst="rect">
            <a:avLst/>
          </a:prstGeom>
          <a:noFill/>
          <a:ln/>
        </p:spPr>
        <p:txBody>
          <a:bodyPr wrap="square" rtlCol="0" anchor="t"/>
          <a:lstStyle/>
          <a:p>
            <a:pPr marL="0" indent="0">
              <a:spcAft>
                <a:spcPts val="600"/>
              </a:spcAft>
              <a:buNone/>
            </a:pPr>
            <a:r>
              <a:rPr lang="en-US" sz="1300" dirty="0">
                <a:solidFill>
                  <a:srgbClr val="CADCFC"/>
                </a:solidFill>
                <a:latin typeface="Calibri" pitchFamily="34" charset="0"/>
                <a:ea typeface="Calibri" pitchFamily="34" charset="-122"/>
                <a:cs typeface="Calibri" pitchFamily="34" charset="-120"/>
              </a:rPr>
              <a:t>MCP was announced by Anthropic in November 2024 — an open standard for connecting AI assistants to data systems such as content repositories, business management tools, and development environments. Before MCP, developers often had to build custom connectors for each data source or tool, resulting in what Anthropic described as an "N×M" data integration problem.</a:t>
            </a:r>
            <a:endParaRPr lang="en-US" sz="1300" dirty="0"/>
          </a:p>
        </p:txBody>
      </p:sp>
      <p:sp>
        <p:nvSpPr>
          <p:cNvPr id="17" name="Shape 15"/>
          <p:cNvSpPr/>
          <p:nvPr/>
        </p:nvSpPr>
        <p:spPr>
          <a:xfrm>
            <a:off x="0" y="4800600"/>
            <a:ext cx="9144000" cy="342900"/>
          </a:xfrm>
          <a:prstGeom prst="rect">
            <a:avLst/>
          </a:prstGeom>
          <a:solidFill>
            <a:srgbClr val="0D2550"/>
          </a:solidFill>
          <a:ln w="12700">
            <a:solidFill>
              <a:srgbClr val="0D2550"/>
            </a:solidFill>
            <a:prstDash val="solid"/>
          </a:ln>
        </p:spPr>
        <p:txBody>
          <a:bodyPr/>
          <a:lstStyle/>
          <a:p>
            <a:endParaRPr lang="en-US"/>
          </a:p>
        </p:txBody>
      </p:sp>
      <p:sp>
        <p:nvSpPr>
          <p:cNvPr id="18" name="Text 16"/>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7A9ABF"/>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6E56"/>
          </a:solidFill>
          <a:ln w="12700">
            <a:solidFill>
              <a:srgbClr val="0F6E56"/>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VERA™  — Verification Engine for Results &amp; Accountability</a:t>
            </a:r>
            <a:endParaRPr lang="en-US" sz="1900" dirty="0"/>
          </a:p>
        </p:txBody>
      </p:sp>
      <p:sp>
        <p:nvSpPr>
          <p:cNvPr id="4" name="Text 2"/>
          <p:cNvSpPr/>
          <p:nvPr/>
        </p:nvSpPr>
        <p:spPr>
          <a:xfrm>
            <a:off x="320040" y="914400"/>
            <a:ext cx="4663440" cy="64008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VERA is a California K-12 education intelligence system that answers the question no current accountability tool can answer:</a:t>
            </a:r>
            <a:endParaRPr lang="en-US" sz="1300" dirty="0"/>
          </a:p>
        </p:txBody>
      </p:sp>
      <p:sp>
        <p:nvSpPr>
          <p:cNvPr id="5" name="Shape 3"/>
          <p:cNvSpPr/>
          <p:nvPr/>
        </p:nvSpPr>
        <p:spPr>
          <a:xfrm>
            <a:off x="320040" y="1627632"/>
            <a:ext cx="64008" cy="822960"/>
          </a:xfrm>
          <a:prstGeom prst="rect">
            <a:avLst/>
          </a:prstGeom>
          <a:solidFill>
            <a:srgbClr val="C9A227"/>
          </a:solidFill>
          <a:ln w="12700">
            <a:solidFill>
              <a:srgbClr val="C9A227"/>
            </a:solidFill>
            <a:prstDash val="solid"/>
          </a:ln>
        </p:spPr>
        <p:txBody>
          <a:bodyPr/>
          <a:lstStyle/>
          <a:p>
            <a:endParaRPr lang="en-US"/>
          </a:p>
        </p:txBody>
      </p:sp>
      <p:sp>
        <p:nvSpPr>
          <p:cNvPr id="6" name="Text 4"/>
          <p:cNvSpPr/>
          <p:nvPr/>
        </p:nvSpPr>
        <p:spPr>
          <a:xfrm>
            <a:off x="502920" y="1627632"/>
            <a:ext cx="4389120" cy="822960"/>
          </a:xfrm>
          <a:prstGeom prst="rect">
            <a:avLst/>
          </a:prstGeom>
          <a:noFill/>
          <a:ln/>
        </p:spPr>
        <p:txBody>
          <a:bodyPr wrap="square" rtlCol="0" anchor="ctr"/>
          <a:lstStyle/>
          <a:p>
            <a:pPr marL="0" indent="0">
              <a:buNone/>
            </a:pPr>
            <a:r>
              <a:rPr lang="en-US" sz="1200" b="1" i="1" dirty="0">
                <a:solidFill>
                  <a:srgbClr val="1B3A6B"/>
                </a:solidFill>
                <a:latin typeface="Calibri" pitchFamily="34" charset="0"/>
                <a:ea typeface="Calibri" pitchFamily="34" charset="-122"/>
                <a:cs typeface="Calibri" pitchFamily="34" charset="-120"/>
              </a:rPr>
              <a:t>Were the interventions funded by a district's LCAP actually matched to the verified learning needs of the students who received them?</a:t>
            </a:r>
            <a:endParaRPr lang="en-US" sz="1200" dirty="0"/>
          </a:p>
        </p:txBody>
      </p:sp>
      <p:sp>
        <p:nvSpPr>
          <p:cNvPr id="7" name="Text 5"/>
          <p:cNvSpPr/>
          <p:nvPr/>
        </p:nvSpPr>
        <p:spPr>
          <a:xfrm>
            <a:off x="320040" y="2578608"/>
            <a:ext cx="4572000" cy="320040"/>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The data is available from:</a:t>
            </a:r>
            <a:endParaRPr lang="en-US" sz="1200" dirty="0"/>
          </a:p>
        </p:txBody>
      </p:sp>
      <p:pic>
        <p:nvPicPr>
          <p:cNvPr id="8" name="Image 0" descr="/home/claude/image5.png"/>
          <p:cNvPicPr>
            <a:picLocks noChangeAspect="1"/>
          </p:cNvPicPr>
          <p:nvPr/>
        </p:nvPicPr>
        <p:blipFill>
          <a:blip r:embed="rId3"/>
          <a:stretch>
            <a:fillRect/>
          </a:stretch>
        </p:blipFill>
        <p:spPr>
          <a:xfrm>
            <a:off x="320040" y="2926080"/>
            <a:ext cx="4663440" cy="1965960"/>
          </a:xfrm>
          <a:prstGeom prst="rect">
            <a:avLst/>
          </a:prstGeom>
        </p:spPr>
      </p:pic>
      <p:pic>
        <p:nvPicPr>
          <p:cNvPr id="9" name="Image 1" descr="/home/claude/image4.jpeg"/>
          <p:cNvPicPr>
            <a:picLocks noChangeAspect="1"/>
          </p:cNvPicPr>
          <p:nvPr/>
        </p:nvPicPr>
        <p:blipFill>
          <a:blip r:embed="rId4"/>
          <a:stretch>
            <a:fillRect/>
          </a:stretch>
        </p:blipFill>
        <p:spPr>
          <a:xfrm>
            <a:off x="5303520" y="914400"/>
            <a:ext cx="3474720" cy="1325880"/>
          </a:xfrm>
          <a:prstGeom prst="rect">
            <a:avLst/>
          </a:prstGeom>
        </p:spPr>
      </p:pic>
      <p:sp>
        <p:nvSpPr>
          <p:cNvPr id="10" name="Text 6"/>
          <p:cNvSpPr/>
          <p:nvPr/>
        </p:nvSpPr>
        <p:spPr>
          <a:xfrm>
            <a:off x="5303520" y="2331720"/>
            <a:ext cx="3474720" cy="100584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An MCP server that connects Claude Desktop to California education assessment data. COE reviewers and district administrators type questions in plain English and receive formatted, submission-ready reports automatically.</a:t>
            </a:r>
            <a:endParaRPr lang="en-US" sz="1100" dirty="0"/>
          </a:p>
        </p:txBody>
      </p:sp>
      <p:sp>
        <p:nvSpPr>
          <p:cNvPr id="11" name="Shape 7"/>
          <p:cNvSpPr/>
          <p:nvPr/>
        </p:nvSpPr>
        <p:spPr>
          <a:xfrm>
            <a:off x="5303520" y="3429000"/>
            <a:ext cx="3474720" cy="1371600"/>
          </a:xfrm>
          <a:prstGeom prst="rect">
            <a:avLst/>
          </a:prstGeom>
          <a:solidFill>
            <a:srgbClr val="1B3A6B"/>
          </a:solidFill>
          <a:ln w="12700">
            <a:solidFill>
              <a:srgbClr val="1B3A6B"/>
            </a:solidFill>
            <a:prstDash val="solid"/>
          </a:ln>
        </p:spPr>
        <p:txBody>
          <a:bodyPr/>
          <a:lstStyle/>
          <a:p>
            <a:endParaRPr lang="en-US"/>
          </a:p>
        </p:txBody>
      </p:sp>
      <p:sp>
        <p:nvSpPr>
          <p:cNvPr id="12" name="Text 8"/>
          <p:cNvSpPr/>
          <p:nvPr/>
        </p:nvSpPr>
        <p:spPr>
          <a:xfrm>
            <a:off x="5394960" y="3493008"/>
            <a:ext cx="3291840" cy="320040"/>
          </a:xfrm>
          <a:prstGeom prst="rect">
            <a:avLst/>
          </a:prstGeom>
          <a:noFill/>
          <a:ln/>
        </p:spPr>
        <p:txBody>
          <a:bodyPr wrap="square" rtlCol="0" anchor="ctr"/>
          <a:lstStyle/>
          <a:p>
            <a:pPr marL="0" indent="0">
              <a:buNone/>
            </a:pPr>
            <a:r>
              <a:rPr lang="en-US" sz="1100" b="1" dirty="0">
                <a:solidFill>
                  <a:srgbClr val="C9A227"/>
                </a:solidFill>
                <a:latin typeface="Calibri" pitchFamily="34" charset="0"/>
                <a:ea typeface="Calibri" pitchFamily="34" charset="-122"/>
                <a:cs typeface="Calibri" pitchFamily="34" charset="-120"/>
              </a:rPr>
              <a:t>Key Differentiator — Type 4 Gap Detection</a:t>
            </a:r>
            <a:endParaRPr lang="en-US" sz="1100" dirty="0"/>
          </a:p>
        </p:txBody>
      </p:sp>
      <p:sp>
        <p:nvSpPr>
          <p:cNvPr id="13" name="Text 9"/>
          <p:cNvSpPr/>
          <p:nvPr/>
        </p:nvSpPr>
        <p:spPr>
          <a:xfrm>
            <a:off x="5394960" y="3822192"/>
            <a:ext cx="3291840" cy="9144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H-EDU's proprietary classification identifies students who speak well but write poorly — the "oral-written delta." This classification does not exist anywhere in the California state accountability system.</a:t>
            </a:r>
            <a:endParaRPr lang="en-US" sz="1000" dirty="0"/>
          </a:p>
        </p:txBody>
      </p:sp>
      <p:sp>
        <p:nvSpPr>
          <p:cNvPr id="14" name="Shape 10"/>
          <p:cNvSpPr/>
          <p:nvPr/>
        </p:nvSpPr>
        <p:spPr>
          <a:xfrm>
            <a:off x="0" y="4800600"/>
            <a:ext cx="9144000" cy="342900"/>
          </a:xfrm>
          <a:prstGeom prst="rect">
            <a:avLst/>
          </a:prstGeom>
          <a:solidFill>
            <a:srgbClr val="1B3A6B"/>
          </a:solidFill>
          <a:ln w="12700">
            <a:solidFill>
              <a:srgbClr val="1B3A6B"/>
            </a:solidFill>
            <a:prstDash val="solid"/>
          </a:ln>
        </p:spPr>
        <p:txBody>
          <a:bodyPr/>
          <a:lstStyle/>
          <a:p>
            <a:endParaRPr lang="en-US"/>
          </a:p>
        </p:txBody>
      </p:sp>
      <p:sp>
        <p:nvSpPr>
          <p:cNvPr id="15" name="Text 11"/>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VERA — The Engine That Sees What the State Cannot</a:t>
            </a:r>
            <a:endParaRPr lang="en-US" sz="2000" dirty="0"/>
          </a:p>
        </p:txBody>
      </p:sp>
      <p:sp>
        <p:nvSpPr>
          <p:cNvPr id="4" name="Text 2"/>
          <p:cNvSpPr/>
          <p:nvPr/>
        </p:nvSpPr>
        <p:spPr>
          <a:xfrm>
            <a:off x="320040" y="868680"/>
            <a:ext cx="8503920" cy="347472"/>
          </a:xfrm>
          <a:prstGeom prst="rect">
            <a:avLst/>
          </a:prstGeom>
          <a:noFill/>
          <a:ln/>
        </p:spPr>
        <p:txBody>
          <a:bodyPr wrap="square" rtlCol="0" anchor="ctr"/>
          <a:lstStyle/>
          <a:p>
            <a:pPr marL="0" indent="0">
              <a:buNone/>
            </a:pPr>
            <a:r>
              <a:rPr lang="en-US" sz="1200" i="1" dirty="0">
                <a:solidFill>
                  <a:srgbClr val="0F6E56"/>
                </a:solidFill>
                <a:latin typeface="Calibri" pitchFamily="34" charset="0"/>
                <a:ea typeface="Calibri" pitchFamily="34" charset="-122"/>
                <a:cs typeface="Calibri" pitchFamily="34" charset="-120"/>
              </a:rPr>
              <a:t>Plain-English queries against California assessment data — no data literacy required.</a:t>
            </a:r>
            <a:endParaRPr lang="en-US" sz="1200" dirty="0"/>
          </a:p>
        </p:txBody>
      </p:sp>
      <p:sp>
        <p:nvSpPr>
          <p:cNvPr id="5" name="Shape 3"/>
          <p:cNvSpPr/>
          <p:nvPr/>
        </p:nvSpPr>
        <p:spPr>
          <a:xfrm>
            <a:off x="320040" y="1280160"/>
            <a:ext cx="3931920" cy="1371600"/>
          </a:xfrm>
          <a:prstGeom prst="rect">
            <a:avLst/>
          </a:prstGeom>
          <a:solidFill>
            <a:srgbClr val="FFFFFF"/>
          </a:solidFill>
          <a:ln w="6350">
            <a:solidFill>
              <a:srgbClr val="D0D8E8"/>
            </a:solidFill>
            <a:prstDash val="solid"/>
          </a:ln>
        </p:spPr>
        <p:txBody>
          <a:bodyPr/>
          <a:lstStyle/>
          <a:p>
            <a:endParaRPr lang="en-US"/>
          </a:p>
        </p:txBody>
      </p:sp>
      <p:sp>
        <p:nvSpPr>
          <p:cNvPr id="6" name="Text 4"/>
          <p:cNvSpPr/>
          <p:nvPr/>
        </p:nvSpPr>
        <p:spPr>
          <a:xfrm>
            <a:off x="411480" y="1353312"/>
            <a:ext cx="3749040" cy="292608"/>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Core Purpose</a:t>
            </a:r>
            <a:endParaRPr lang="en-US" sz="1200" dirty="0"/>
          </a:p>
        </p:txBody>
      </p:sp>
      <p:sp>
        <p:nvSpPr>
          <p:cNvPr id="7" name="Text 5"/>
          <p:cNvSpPr/>
          <p:nvPr/>
        </p:nvSpPr>
        <p:spPr>
          <a:xfrm>
            <a:off x="411480" y="1664208"/>
            <a:ext cx="3749040" cy="914400"/>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Enables plain-English queries against CAASPP, ELPAC, and LCAP data</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Identifies achievement gaps without requiring data literacy from users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COE reviewers can ask questions and receive formatted reports automatically</a:t>
            </a:r>
            <a:endParaRPr lang="en-US" sz="1050" dirty="0"/>
          </a:p>
        </p:txBody>
      </p:sp>
      <p:sp>
        <p:nvSpPr>
          <p:cNvPr id="8" name="Shape 6"/>
          <p:cNvSpPr/>
          <p:nvPr/>
        </p:nvSpPr>
        <p:spPr>
          <a:xfrm>
            <a:off x="4480560" y="1280160"/>
            <a:ext cx="4343400" cy="320040"/>
          </a:xfrm>
          <a:prstGeom prst="rect">
            <a:avLst/>
          </a:prstGeom>
          <a:solidFill>
            <a:srgbClr val="1B3A6B"/>
          </a:solidFill>
          <a:ln w="12700">
            <a:solidFill>
              <a:srgbClr val="1B3A6B"/>
            </a:solidFill>
            <a:prstDash val="solid"/>
          </a:ln>
        </p:spPr>
        <p:txBody>
          <a:bodyPr/>
          <a:lstStyle/>
          <a:p>
            <a:endParaRPr lang="en-US"/>
          </a:p>
        </p:txBody>
      </p:sp>
      <p:sp>
        <p:nvSpPr>
          <p:cNvPr id="9" name="Text 7"/>
          <p:cNvSpPr/>
          <p:nvPr/>
        </p:nvSpPr>
        <p:spPr>
          <a:xfrm>
            <a:off x="4480560" y="1280160"/>
            <a:ext cx="4343400" cy="320040"/>
          </a:xfrm>
          <a:prstGeom prst="rect">
            <a:avLst/>
          </a:prstGeom>
          <a:noFill/>
          <a:ln/>
        </p:spPr>
        <p:txBody>
          <a:bodyPr wrap="square" rtlCol="0" anchor="ctr"/>
          <a:lstStyle/>
          <a:p>
            <a:pPr marL="0" indent="0" algn="ctr">
              <a:buNone/>
            </a:pPr>
            <a:r>
              <a:rPr lang="en-US" sz="1200" b="1" dirty="0">
                <a:solidFill>
                  <a:srgbClr val="C9A227"/>
                </a:solidFill>
                <a:latin typeface="Calibri" pitchFamily="34" charset="0"/>
                <a:ea typeface="Calibri" pitchFamily="34" charset="-122"/>
                <a:cs typeface="Calibri" pitchFamily="34" charset="-120"/>
              </a:rPr>
              <a:t>Five Tools</a:t>
            </a:r>
            <a:endParaRPr lang="en-US" sz="1200" dirty="0"/>
          </a:p>
        </p:txBody>
      </p:sp>
      <p:sp>
        <p:nvSpPr>
          <p:cNvPr id="10" name="Shape 8"/>
          <p:cNvSpPr/>
          <p:nvPr/>
        </p:nvSpPr>
        <p:spPr>
          <a:xfrm>
            <a:off x="4480560" y="1627632"/>
            <a:ext cx="4343400" cy="493776"/>
          </a:xfrm>
          <a:prstGeom prst="rect">
            <a:avLst/>
          </a:prstGeom>
          <a:solidFill>
            <a:srgbClr val="EDF2FA"/>
          </a:solidFill>
          <a:ln w="3810">
            <a:solidFill>
              <a:srgbClr val="D0D8E8"/>
            </a:solidFill>
            <a:prstDash val="solid"/>
          </a:ln>
        </p:spPr>
        <p:txBody>
          <a:bodyPr/>
          <a:lstStyle/>
          <a:p>
            <a:endParaRPr lang="en-US"/>
          </a:p>
        </p:txBody>
      </p:sp>
      <p:sp>
        <p:nvSpPr>
          <p:cNvPr id="11" name="Text 9"/>
          <p:cNvSpPr/>
          <p:nvPr/>
        </p:nvSpPr>
        <p:spPr>
          <a:xfrm>
            <a:off x="4572000" y="1664208"/>
            <a:ext cx="4160520" cy="219456"/>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list_districts()</a:t>
            </a:r>
            <a:endParaRPr lang="en-US" sz="1000" dirty="0"/>
          </a:p>
        </p:txBody>
      </p:sp>
      <p:sp>
        <p:nvSpPr>
          <p:cNvPr id="12" name="Text 10"/>
          <p:cNvSpPr/>
          <p:nvPr/>
        </p:nvSpPr>
        <p:spPr>
          <a:xfrm>
            <a:off x="4572000" y="1865376"/>
            <a:ext cx="4160520" cy="21945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List all districts in the database</a:t>
            </a:r>
            <a:endParaRPr lang="en-US" sz="950" dirty="0"/>
          </a:p>
        </p:txBody>
      </p:sp>
      <p:sp>
        <p:nvSpPr>
          <p:cNvPr id="13" name="Shape 11"/>
          <p:cNvSpPr/>
          <p:nvPr/>
        </p:nvSpPr>
        <p:spPr>
          <a:xfrm>
            <a:off x="4480560" y="2139696"/>
            <a:ext cx="4343400" cy="493776"/>
          </a:xfrm>
          <a:prstGeom prst="rect">
            <a:avLst/>
          </a:prstGeom>
          <a:solidFill>
            <a:srgbClr val="FFFFFF"/>
          </a:solidFill>
          <a:ln w="3810">
            <a:solidFill>
              <a:srgbClr val="D0D8E8"/>
            </a:solidFill>
            <a:prstDash val="solid"/>
          </a:ln>
        </p:spPr>
        <p:txBody>
          <a:bodyPr/>
          <a:lstStyle/>
          <a:p>
            <a:endParaRPr lang="en-US"/>
          </a:p>
        </p:txBody>
      </p:sp>
      <p:sp>
        <p:nvSpPr>
          <p:cNvPr id="14" name="Text 12"/>
          <p:cNvSpPr/>
          <p:nvPr/>
        </p:nvSpPr>
        <p:spPr>
          <a:xfrm>
            <a:off x="4572000" y="2176272"/>
            <a:ext cx="4160520" cy="219456"/>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fetch_caaspp_results()</a:t>
            </a:r>
            <a:endParaRPr lang="en-US" sz="1000" dirty="0"/>
          </a:p>
        </p:txBody>
      </p:sp>
      <p:sp>
        <p:nvSpPr>
          <p:cNvPr id="15" name="Text 13"/>
          <p:cNvSpPr/>
          <p:nvPr/>
        </p:nvSpPr>
        <p:spPr>
          <a:xfrm>
            <a:off x="4572000" y="2377440"/>
            <a:ext cx="4160520" cy="21945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Retrieve CAASPP data for any district by grade and subgroup</a:t>
            </a:r>
            <a:endParaRPr lang="en-US" sz="950" dirty="0"/>
          </a:p>
        </p:txBody>
      </p:sp>
      <p:sp>
        <p:nvSpPr>
          <p:cNvPr id="16" name="Shape 14"/>
          <p:cNvSpPr/>
          <p:nvPr/>
        </p:nvSpPr>
        <p:spPr>
          <a:xfrm>
            <a:off x="4480560" y="2651760"/>
            <a:ext cx="4343400" cy="493776"/>
          </a:xfrm>
          <a:prstGeom prst="rect">
            <a:avLst/>
          </a:prstGeom>
          <a:solidFill>
            <a:srgbClr val="EDF2FA"/>
          </a:solidFill>
          <a:ln w="3810">
            <a:solidFill>
              <a:srgbClr val="D0D8E8"/>
            </a:solidFill>
            <a:prstDash val="solid"/>
          </a:ln>
        </p:spPr>
        <p:txBody>
          <a:bodyPr/>
          <a:lstStyle/>
          <a:p>
            <a:endParaRPr lang="en-US"/>
          </a:p>
        </p:txBody>
      </p:sp>
      <p:sp>
        <p:nvSpPr>
          <p:cNvPr id="17" name="Text 15"/>
          <p:cNvSpPr/>
          <p:nvPr/>
        </p:nvSpPr>
        <p:spPr>
          <a:xfrm>
            <a:off x="4572000" y="2688336"/>
            <a:ext cx="4160520" cy="219456"/>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compute_oral_written_delta()</a:t>
            </a:r>
            <a:endParaRPr lang="en-US" sz="1000" dirty="0"/>
          </a:p>
        </p:txBody>
      </p:sp>
      <p:sp>
        <p:nvSpPr>
          <p:cNvPr id="18" name="Text 16"/>
          <p:cNvSpPr/>
          <p:nvPr/>
        </p:nvSpPr>
        <p:spPr>
          <a:xfrm>
            <a:off x="4572000" y="2889504"/>
            <a:ext cx="4160520" cy="21945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Core Type 4 gap analysis: speaking vs. writing by grade</a:t>
            </a:r>
            <a:endParaRPr lang="en-US" sz="950" dirty="0"/>
          </a:p>
        </p:txBody>
      </p:sp>
      <p:sp>
        <p:nvSpPr>
          <p:cNvPr id="19" name="Shape 17"/>
          <p:cNvSpPr/>
          <p:nvPr/>
        </p:nvSpPr>
        <p:spPr>
          <a:xfrm>
            <a:off x="4480560" y="3163824"/>
            <a:ext cx="4343400" cy="493776"/>
          </a:xfrm>
          <a:prstGeom prst="rect">
            <a:avLst/>
          </a:prstGeom>
          <a:solidFill>
            <a:srgbClr val="FFFFFF"/>
          </a:solidFill>
          <a:ln w="3810">
            <a:solidFill>
              <a:srgbClr val="D0D8E8"/>
            </a:solidFill>
            <a:prstDash val="solid"/>
          </a:ln>
        </p:spPr>
        <p:txBody>
          <a:bodyPr/>
          <a:lstStyle/>
          <a:p>
            <a:endParaRPr lang="en-US"/>
          </a:p>
        </p:txBody>
      </p:sp>
      <p:sp>
        <p:nvSpPr>
          <p:cNvPr id="20" name="Text 18"/>
          <p:cNvSpPr/>
          <p:nvPr/>
        </p:nvSpPr>
        <p:spPr>
          <a:xfrm>
            <a:off x="4572000" y="3200400"/>
            <a:ext cx="4160520" cy="219456"/>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flag_type4_candidates()</a:t>
            </a:r>
            <a:endParaRPr lang="en-US" sz="1000" dirty="0"/>
          </a:p>
        </p:txBody>
      </p:sp>
      <p:sp>
        <p:nvSpPr>
          <p:cNvPr id="21" name="Text 19"/>
          <p:cNvSpPr/>
          <p:nvPr/>
        </p:nvSpPr>
        <p:spPr>
          <a:xfrm>
            <a:off x="4572000" y="3401568"/>
            <a:ext cx="4160520" cy="21945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Statewide scan identifying every Type 4 mismatch across all districts</a:t>
            </a:r>
            <a:endParaRPr lang="en-US" sz="950" dirty="0"/>
          </a:p>
        </p:txBody>
      </p:sp>
      <p:sp>
        <p:nvSpPr>
          <p:cNvPr id="22" name="Shape 20"/>
          <p:cNvSpPr/>
          <p:nvPr/>
        </p:nvSpPr>
        <p:spPr>
          <a:xfrm>
            <a:off x="4480560" y="3675888"/>
            <a:ext cx="4343400" cy="493776"/>
          </a:xfrm>
          <a:prstGeom prst="rect">
            <a:avLst/>
          </a:prstGeom>
          <a:solidFill>
            <a:srgbClr val="EDF2FA"/>
          </a:solidFill>
          <a:ln w="3810">
            <a:solidFill>
              <a:srgbClr val="D0D8E8"/>
            </a:solidFill>
            <a:prstDash val="solid"/>
          </a:ln>
        </p:spPr>
        <p:txBody>
          <a:bodyPr/>
          <a:lstStyle/>
          <a:p>
            <a:endParaRPr lang="en-US"/>
          </a:p>
        </p:txBody>
      </p:sp>
      <p:sp>
        <p:nvSpPr>
          <p:cNvPr id="23" name="Text 21"/>
          <p:cNvSpPr/>
          <p:nvPr/>
        </p:nvSpPr>
        <p:spPr>
          <a:xfrm>
            <a:off x="4572000" y="3712464"/>
            <a:ext cx="4160520" cy="219456"/>
          </a:xfrm>
          <a:prstGeom prst="rect">
            <a:avLst/>
          </a:prstGeom>
          <a:noFill/>
          <a:ln/>
        </p:spPr>
        <p:txBody>
          <a:bodyPr wrap="square" rtlCol="0" anchor="ctr"/>
          <a:lstStyle/>
          <a:p>
            <a:pPr marL="0" indent="0">
              <a:buNone/>
            </a:pPr>
            <a:r>
              <a:rPr lang="en-US" sz="1000" b="1" dirty="0">
                <a:solidFill>
                  <a:srgbClr val="0F6E56"/>
                </a:solidFill>
                <a:latin typeface="Calibri" pitchFamily="34" charset="0"/>
                <a:ea typeface="Calibri" pitchFamily="34" charset="-122"/>
                <a:cs typeface="Calibri" pitchFamily="34" charset="-120"/>
              </a:rPr>
              <a:t>get_lcap_match_summary()</a:t>
            </a:r>
            <a:endParaRPr lang="en-US" sz="1000" dirty="0"/>
          </a:p>
        </p:txBody>
      </p:sp>
      <p:sp>
        <p:nvSpPr>
          <p:cNvPr id="24" name="Text 22"/>
          <p:cNvSpPr/>
          <p:nvPr/>
        </p:nvSpPr>
        <p:spPr>
          <a:xfrm>
            <a:off x="4572000" y="3913632"/>
            <a:ext cx="4160520" cy="21945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LCAP verification report formatted for COE submission</a:t>
            </a:r>
            <a:endParaRPr lang="en-US" sz="950" dirty="0"/>
          </a:p>
        </p:txBody>
      </p:sp>
      <p:pic>
        <p:nvPicPr>
          <p:cNvPr id="25" name="Image 0" descr="/home/claude/image6.png"/>
          <p:cNvPicPr>
            <a:picLocks noChangeAspect="1"/>
          </p:cNvPicPr>
          <p:nvPr/>
        </p:nvPicPr>
        <p:blipFill>
          <a:blip r:embed="rId3"/>
          <a:stretch>
            <a:fillRect/>
          </a:stretch>
        </p:blipFill>
        <p:spPr>
          <a:xfrm>
            <a:off x="320040" y="2743200"/>
            <a:ext cx="3931920" cy="2240280"/>
          </a:xfrm>
          <a:prstGeom prst="rect">
            <a:avLst/>
          </a:prstGeom>
        </p:spPr>
      </p:pic>
      <p:sp>
        <p:nvSpPr>
          <p:cNvPr id="26" name="Shape 23"/>
          <p:cNvSpPr/>
          <p:nvPr/>
        </p:nvSpPr>
        <p:spPr>
          <a:xfrm>
            <a:off x="0" y="4800600"/>
            <a:ext cx="9144000" cy="342900"/>
          </a:xfrm>
          <a:prstGeom prst="rect">
            <a:avLst/>
          </a:prstGeom>
          <a:solidFill>
            <a:srgbClr val="1B3A6B"/>
          </a:solidFill>
          <a:ln w="12700">
            <a:solidFill>
              <a:srgbClr val="1B3A6B"/>
            </a:solidFill>
            <a:prstDash val="solid"/>
          </a:ln>
        </p:spPr>
        <p:txBody>
          <a:bodyPr/>
          <a:lstStyle/>
          <a:p>
            <a:endParaRPr lang="en-US"/>
          </a:p>
        </p:txBody>
      </p:sp>
      <p:sp>
        <p:nvSpPr>
          <p:cNvPr id="27" name="Text 24"/>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VERA in Action</a:t>
            </a:r>
            <a:endParaRPr lang="en-US" sz="2200" dirty="0"/>
          </a:p>
        </p:txBody>
      </p:sp>
      <p:sp>
        <p:nvSpPr>
          <p:cNvPr id="4" name="Shape 2"/>
          <p:cNvSpPr/>
          <p:nvPr/>
        </p:nvSpPr>
        <p:spPr>
          <a:xfrm>
            <a:off x="228600" y="914400"/>
            <a:ext cx="4160520" cy="274320"/>
          </a:xfrm>
          <a:prstGeom prst="rect">
            <a:avLst/>
          </a:prstGeom>
          <a:solidFill>
            <a:srgbClr val="2A5298"/>
          </a:solidFill>
          <a:ln w="12700">
            <a:solidFill>
              <a:srgbClr val="2A5298"/>
            </a:solidFill>
            <a:prstDash val="solid"/>
          </a:ln>
        </p:spPr>
        <p:txBody>
          <a:bodyPr/>
          <a:lstStyle/>
          <a:p>
            <a:endParaRPr lang="en-US"/>
          </a:p>
        </p:txBody>
      </p:sp>
      <p:sp>
        <p:nvSpPr>
          <p:cNvPr id="5" name="Text 3"/>
          <p:cNvSpPr/>
          <p:nvPr/>
        </p:nvSpPr>
        <p:spPr>
          <a:xfrm>
            <a:off x="228600" y="914400"/>
            <a:ext cx="4160520" cy="274320"/>
          </a:xfrm>
          <a:prstGeom prst="rect">
            <a:avLst/>
          </a:prstGeom>
          <a:noFill/>
          <a:ln/>
        </p:spPr>
        <p:txBody>
          <a:bodyPr wrap="square" rtlCol="0" anchor="ctr"/>
          <a:lstStyle/>
          <a:p>
            <a:pPr marL="0" indent="0" algn="ctr">
              <a:buNone/>
            </a:pPr>
            <a:r>
              <a:rPr lang="en-US" sz="1000" b="1" kern="0" spc="200" dirty="0">
                <a:solidFill>
                  <a:srgbClr val="C9A227"/>
                </a:solidFill>
                <a:latin typeface="Calibri" pitchFamily="34" charset="0"/>
                <a:ea typeface="Calibri" pitchFamily="34" charset="-122"/>
                <a:cs typeface="Calibri" pitchFamily="34" charset="-120"/>
              </a:rPr>
              <a:t>THE HOME WEB PAGE</a:t>
            </a:r>
            <a:endParaRPr lang="en-US" sz="1000" dirty="0"/>
          </a:p>
        </p:txBody>
      </p:sp>
      <p:pic>
        <p:nvPicPr>
          <p:cNvPr id="6" name="Image 0" descr="/home/claude/image7.png"/>
          <p:cNvPicPr>
            <a:picLocks noChangeAspect="1"/>
          </p:cNvPicPr>
          <p:nvPr/>
        </p:nvPicPr>
        <p:blipFill>
          <a:blip r:embed="rId3"/>
          <a:stretch>
            <a:fillRect/>
          </a:stretch>
        </p:blipFill>
        <p:spPr>
          <a:xfrm>
            <a:off x="228600" y="1207008"/>
            <a:ext cx="4160520" cy="3547872"/>
          </a:xfrm>
          <a:prstGeom prst="rect">
            <a:avLst/>
          </a:prstGeom>
        </p:spPr>
      </p:pic>
      <p:sp>
        <p:nvSpPr>
          <p:cNvPr id="7" name="Shape 4"/>
          <p:cNvSpPr/>
          <p:nvPr/>
        </p:nvSpPr>
        <p:spPr>
          <a:xfrm>
            <a:off x="4754880" y="914400"/>
            <a:ext cx="4160520" cy="274320"/>
          </a:xfrm>
          <a:prstGeom prst="rect">
            <a:avLst/>
          </a:prstGeom>
          <a:solidFill>
            <a:srgbClr val="2A5298"/>
          </a:solidFill>
          <a:ln w="12700">
            <a:solidFill>
              <a:srgbClr val="2A5298"/>
            </a:solidFill>
            <a:prstDash val="solid"/>
          </a:ln>
        </p:spPr>
        <p:txBody>
          <a:bodyPr/>
          <a:lstStyle/>
          <a:p>
            <a:endParaRPr lang="en-US"/>
          </a:p>
        </p:txBody>
      </p:sp>
      <p:sp>
        <p:nvSpPr>
          <p:cNvPr id="8" name="Text 5"/>
          <p:cNvSpPr/>
          <p:nvPr/>
        </p:nvSpPr>
        <p:spPr>
          <a:xfrm>
            <a:off x="4754880" y="914400"/>
            <a:ext cx="4160520" cy="274320"/>
          </a:xfrm>
          <a:prstGeom prst="rect">
            <a:avLst/>
          </a:prstGeom>
          <a:noFill/>
          <a:ln/>
        </p:spPr>
        <p:txBody>
          <a:bodyPr wrap="square" rtlCol="0" anchor="ctr"/>
          <a:lstStyle/>
          <a:p>
            <a:pPr marL="0" indent="0" algn="ctr">
              <a:buNone/>
            </a:pPr>
            <a:r>
              <a:rPr lang="en-US" sz="1000" b="1" kern="0" spc="200" dirty="0">
                <a:solidFill>
                  <a:srgbClr val="C9A227"/>
                </a:solidFill>
                <a:latin typeface="Calibri" pitchFamily="34" charset="0"/>
                <a:ea typeface="Calibri" pitchFamily="34" charset="-122"/>
                <a:cs typeface="Calibri" pitchFamily="34" charset="-120"/>
              </a:rPr>
              <a:t>THE APPLICATION WEB PAGE</a:t>
            </a:r>
            <a:endParaRPr lang="en-US" sz="1000" dirty="0"/>
          </a:p>
        </p:txBody>
      </p:sp>
      <p:pic>
        <p:nvPicPr>
          <p:cNvPr id="9" name="Image 1" descr="/home/claude/image8.jpeg"/>
          <p:cNvPicPr>
            <a:picLocks noChangeAspect="1"/>
          </p:cNvPicPr>
          <p:nvPr/>
        </p:nvPicPr>
        <p:blipFill>
          <a:blip r:embed="rId4"/>
          <a:stretch>
            <a:fillRect/>
          </a:stretch>
        </p:blipFill>
        <p:spPr>
          <a:xfrm>
            <a:off x="4754880" y="1207008"/>
            <a:ext cx="4160520" cy="3547872"/>
          </a:xfrm>
          <a:prstGeom prst="rect">
            <a:avLst/>
          </a:prstGeom>
        </p:spPr>
      </p:pic>
      <p:sp>
        <p:nvSpPr>
          <p:cNvPr id="10" name="Shape 6"/>
          <p:cNvSpPr/>
          <p:nvPr/>
        </p:nvSpPr>
        <p:spPr>
          <a:xfrm>
            <a:off x="0" y="4800600"/>
            <a:ext cx="9144000" cy="342900"/>
          </a:xfrm>
          <a:prstGeom prst="rect">
            <a:avLst/>
          </a:prstGeom>
          <a:solidFill>
            <a:srgbClr val="1B3A6B"/>
          </a:solidFill>
          <a:ln w="12700">
            <a:solidFill>
              <a:srgbClr val="1B3A6B"/>
            </a:solidFill>
            <a:prstDash val="solid"/>
          </a:ln>
        </p:spPr>
        <p:txBody>
          <a:bodyPr/>
          <a:lstStyle/>
          <a:p>
            <a:endParaRPr lang="en-US"/>
          </a:p>
        </p:txBody>
      </p:sp>
      <p:sp>
        <p:nvSpPr>
          <p:cNvPr id="11" name="Text 7"/>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227"/>
          </a:solidFill>
          <a:ln w="12700">
            <a:solidFill>
              <a:srgbClr val="C9A227"/>
            </a:solidFill>
            <a:prstDash val="solid"/>
          </a:ln>
        </p:spPr>
        <p:txBody>
          <a:bodyPr/>
          <a:lstStyle/>
          <a:p>
            <a:endParaRPr lang="en-US"/>
          </a:p>
        </p:txBody>
      </p:sp>
      <p:sp>
        <p:nvSpPr>
          <p:cNvPr id="3" name="Text 1"/>
          <p:cNvSpPr/>
          <p:nvPr/>
        </p:nvSpPr>
        <p:spPr>
          <a:xfrm>
            <a:off x="320040" y="274320"/>
            <a:ext cx="8503920" cy="10972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We Are Building for Where Education Is Going,</a:t>
            </a:r>
            <a:endParaRPr lang="en-US" sz="2200" dirty="0"/>
          </a:p>
          <a:p>
            <a:pPr marL="0" indent="0">
              <a:buNone/>
            </a:pPr>
            <a:r>
              <a:rPr lang="en-US" sz="2200" b="1" dirty="0">
                <a:solidFill>
                  <a:srgbClr val="FFFFFF"/>
                </a:solidFill>
                <a:latin typeface="Calibri" pitchFamily="34" charset="0"/>
                <a:ea typeface="Calibri" pitchFamily="34" charset="-122"/>
                <a:cs typeface="Calibri" pitchFamily="34" charset="-120"/>
              </a:rPr>
              <a:t>Not Where It Has Been</a:t>
            </a:r>
            <a:endParaRPr lang="en-US" sz="2200" dirty="0"/>
          </a:p>
        </p:txBody>
      </p:sp>
      <p:sp>
        <p:nvSpPr>
          <p:cNvPr id="4" name="Shape 2"/>
          <p:cNvSpPr/>
          <p:nvPr/>
        </p:nvSpPr>
        <p:spPr>
          <a:xfrm>
            <a:off x="320040" y="1417320"/>
            <a:ext cx="8412480" cy="36576"/>
          </a:xfrm>
          <a:prstGeom prst="rect">
            <a:avLst/>
          </a:prstGeom>
          <a:solidFill>
            <a:srgbClr val="C9A227"/>
          </a:solidFill>
          <a:ln w="12700">
            <a:solidFill>
              <a:srgbClr val="C9A227"/>
            </a:solidFill>
            <a:prstDash val="solid"/>
          </a:ln>
        </p:spPr>
        <p:txBody>
          <a:bodyPr/>
          <a:lstStyle/>
          <a:p>
            <a:endParaRPr lang="en-US"/>
          </a:p>
        </p:txBody>
      </p:sp>
      <p:sp>
        <p:nvSpPr>
          <p:cNvPr id="5" name="Text 3"/>
          <p:cNvSpPr/>
          <p:nvPr/>
        </p:nvSpPr>
        <p:spPr>
          <a:xfrm>
            <a:off x="320040" y="1572768"/>
            <a:ext cx="8412480" cy="777240"/>
          </a:xfrm>
          <a:prstGeom prst="rect">
            <a:avLst/>
          </a:prstGeom>
          <a:noFill/>
          <a:ln/>
        </p:spPr>
        <p:txBody>
          <a:bodyPr wrap="square" rtlCol="0" anchor="ctr"/>
          <a:lstStyle/>
          <a:p>
            <a:pPr marL="0" indent="0">
              <a:spcAft>
                <a:spcPts val="400"/>
              </a:spcAft>
              <a:buNone/>
            </a:pPr>
            <a:r>
              <a:rPr lang="en-US" sz="1150" dirty="0">
                <a:solidFill>
                  <a:srgbClr val="CADCFC"/>
                </a:solidFill>
                <a:latin typeface="Calibri" pitchFamily="34" charset="0"/>
                <a:ea typeface="Calibri" pitchFamily="34" charset="-122"/>
                <a:cs typeface="Calibri" pitchFamily="34" charset="-120"/>
              </a:rPr>
              <a:t>The conversation about AI in education is moving fast — faster than most policy frameworks, and faster than most vendors are prepared to acknowledge. At H-EDU, we have been watching that curve carefully, and we have made a deliberate choice to build ahead of it rather than react to it.</a:t>
            </a:r>
            <a:endParaRPr lang="en-US" sz="1150" dirty="0"/>
          </a:p>
        </p:txBody>
      </p:sp>
      <p:sp>
        <p:nvSpPr>
          <p:cNvPr id="6" name="Text 4"/>
          <p:cNvSpPr/>
          <p:nvPr/>
        </p:nvSpPr>
        <p:spPr>
          <a:xfrm>
            <a:off x="320040" y="2395728"/>
            <a:ext cx="8412480" cy="777240"/>
          </a:xfrm>
          <a:prstGeom prst="rect">
            <a:avLst/>
          </a:prstGeom>
          <a:noFill/>
          <a:ln/>
        </p:spPr>
        <p:txBody>
          <a:bodyPr wrap="square" rtlCol="0" anchor="ctr"/>
          <a:lstStyle/>
          <a:p>
            <a:pPr marL="0" indent="0">
              <a:spcAft>
                <a:spcPts val="400"/>
              </a:spcAft>
              <a:buNone/>
            </a:pPr>
            <a:r>
              <a:rPr lang="en-US" sz="1150" dirty="0">
                <a:solidFill>
                  <a:srgbClr val="CADCFC"/>
                </a:solidFill>
                <a:latin typeface="Calibri" pitchFamily="34" charset="0"/>
                <a:ea typeface="Calibri" pitchFamily="34" charset="-122"/>
                <a:cs typeface="Calibri" pitchFamily="34" charset="-120"/>
              </a:rPr>
              <a:t>VERA is not a reporting tool dressed up with an AI label. It is a verification engine designed around how AI systems will increasingly be used in public sector accountability — with structured data inputs, closed-loop outputs, and audit trails that districts and their boards can actually stand behind.</a:t>
            </a:r>
            <a:endParaRPr lang="en-US" sz="1150" dirty="0"/>
          </a:p>
        </p:txBody>
      </p:sp>
      <p:sp>
        <p:nvSpPr>
          <p:cNvPr id="7" name="Text 5"/>
          <p:cNvSpPr/>
          <p:nvPr/>
        </p:nvSpPr>
        <p:spPr>
          <a:xfrm>
            <a:off x="320040" y="3218688"/>
            <a:ext cx="8412480" cy="777240"/>
          </a:xfrm>
          <a:prstGeom prst="rect">
            <a:avLst/>
          </a:prstGeom>
          <a:noFill/>
          <a:ln/>
        </p:spPr>
        <p:txBody>
          <a:bodyPr wrap="square" rtlCol="0" anchor="ctr"/>
          <a:lstStyle/>
          <a:p>
            <a:pPr marL="0" indent="0">
              <a:spcAft>
                <a:spcPts val="400"/>
              </a:spcAft>
              <a:buNone/>
            </a:pPr>
            <a:r>
              <a:rPr lang="en-US" sz="1150" dirty="0">
                <a:solidFill>
                  <a:srgbClr val="CADCFC"/>
                </a:solidFill>
                <a:latin typeface="Calibri" pitchFamily="34" charset="0"/>
                <a:ea typeface="Calibri" pitchFamily="34" charset="-122"/>
                <a:cs typeface="Calibri" pitchFamily="34" charset="-120"/>
              </a:rPr>
              <a:t>The inference revolution — the shift from AI as a one-time query to AI as a continuous, embedded reasoning layer — is already reshaping what enterprise software looks like. VERA is positioned squarely in that architecture. It does not wait to be asked. It monitors, flags, and surfaces the interventions that matter most, in the districts that need them most.</a:t>
            </a:r>
            <a:endParaRPr lang="en-US" sz="1150" dirty="0"/>
          </a:p>
        </p:txBody>
      </p:sp>
      <p:sp>
        <p:nvSpPr>
          <p:cNvPr id="8" name="Text 6"/>
          <p:cNvSpPr/>
          <p:nvPr/>
        </p:nvSpPr>
        <p:spPr>
          <a:xfrm>
            <a:off x="320040" y="4041648"/>
            <a:ext cx="8412480" cy="777240"/>
          </a:xfrm>
          <a:prstGeom prst="rect">
            <a:avLst/>
          </a:prstGeom>
          <a:noFill/>
          <a:ln/>
        </p:spPr>
        <p:txBody>
          <a:bodyPr wrap="square" rtlCol="0" anchor="ctr"/>
          <a:lstStyle/>
          <a:p>
            <a:pPr marL="0" indent="0">
              <a:spcAft>
                <a:spcPts val="400"/>
              </a:spcAft>
              <a:buNone/>
            </a:pPr>
            <a:r>
              <a:rPr lang="en-US" sz="1150" dirty="0">
                <a:solidFill>
                  <a:srgbClr val="CADCFC"/>
                </a:solidFill>
                <a:latin typeface="Calibri" pitchFamily="34" charset="0"/>
                <a:ea typeface="Calibri" pitchFamily="34" charset="-122"/>
                <a:cs typeface="Calibri" pitchFamily="34" charset="-120"/>
              </a:rPr>
              <a:t>The CSBA community have spent decades working at the intersection of governance and student outcomes. We believe that work deserves tools that are as forward-looking as the mission itself. VERA is our contribution to that alignment.</a:t>
            </a:r>
            <a:endParaRPr lang="en-US" sz="1150" dirty="0"/>
          </a:p>
        </p:txBody>
      </p:sp>
      <p:sp>
        <p:nvSpPr>
          <p:cNvPr id="9" name="Shape 7"/>
          <p:cNvSpPr/>
          <p:nvPr/>
        </p:nvSpPr>
        <p:spPr>
          <a:xfrm>
            <a:off x="0" y="4800600"/>
            <a:ext cx="9144000" cy="342900"/>
          </a:xfrm>
          <a:prstGeom prst="rect">
            <a:avLst/>
          </a:prstGeom>
          <a:solidFill>
            <a:srgbClr val="0D2550"/>
          </a:solidFill>
          <a:ln w="12700">
            <a:solidFill>
              <a:srgbClr val="0D2550"/>
            </a:solidFill>
            <a:prstDash val="solid"/>
          </a:ln>
        </p:spPr>
        <p:txBody>
          <a:bodyPr/>
          <a:lstStyle/>
          <a:p>
            <a:endParaRPr lang="en-US"/>
          </a:p>
        </p:txBody>
      </p:sp>
      <p:sp>
        <p:nvSpPr>
          <p:cNvPr id="10" name="Text 8"/>
          <p:cNvSpPr/>
          <p:nvPr/>
        </p:nvSpPr>
        <p:spPr>
          <a:xfrm>
            <a:off x="274320" y="4800600"/>
            <a:ext cx="8595360" cy="342900"/>
          </a:xfrm>
          <a:prstGeom prst="rect">
            <a:avLst/>
          </a:prstGeom>
          <a:noFill/>
          <a:ln/>
        </p:spPr>
        <p:txBody>
          <a:bodyPr wrap="square" rtlCol="0" anchor="ctr"/>
          <a:lstStyle/>
          <a:p>
            <a:pPr marL="0" indent="0">
              <a:buNone/>
            </a:pPr>
            <a:r>
              <a:rPr lang="en-US" sz="900" dirty="0">
                <a:solidFill>
                  <a:srgbClr val="7A9ABF"/>
                </a:solidFill>
                <a:latin typeface="Calibri" pitchFamily="34" charset="0"/>
                <a:ea typeface="Calibri" pitchFamily="34" charset="-122"/>
                <a:cs typeface="Calibri" pitchFamily="34" charset="-120"/>
              </a:rPr>
              <a:t>H-EDU.solutions  |  VERA  |  Presented to CSBA  |  March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rtlCol="0" anchor="ctr"/>
          <a:lstStyle/>
          <a:p>
            <a:pPr marL="0" indent="0">
              <a:buNone/>
            </a:pPr>
            <a:r>
              <a:rPr lang="en-US" sz="1800" b="1" kern="0" spc="100" dirty="0">
                <a:solidFill>
                  <a:srgbClr val="FFFFFF"/>
                </a:solidFill>
                <a:latin typeface="Calibri" pitchFamily="34" charset="0"/>
                <a:ea typeface="Calibri" pitchFamily="34" charset="-122"/>
                <a:cs typeface="Calibri" pitchFamily="34" charset="-120"/>
              </a:rPr>
              <a:t>HERE'S HOW YOU'LL RATE H-EDU AND VERA, ITS FLAGSHIP APP</a:t>
            </a:r>
            <a:endParaRPr lang="en-US" sz="1800" dirty="0"/>
          </a:p>
        </p:txBody>
      </p:sp>
      <p:sp>
        <p:nvSpPr>
          <p:cNvPr id="4" name="Shape 2"/>
          <p:cNvSpPr/>
          <p:nvPr/>
        </p:nvSpPr>
        <p:spPr>
          <a:xfrm>
            <a:off x="228600" y="868680"/>
            <a:ext cx="6858000" cy="310896"/>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320040" y="868680"/>
            <a:ext cx="6766560"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Milestone</a:t>
            </a:r>
            <a:endParaRPr lang="en-US" sz="1100" dirty="0"/>
          </a:p>
        </p:txBody>
      </p:sp>
      <p:sp>
        <p:nvSpPr>
          <p:cNvPr id="6" name="Shape 4"/>
          <p:cNvSpPr/>
          <p:nvPr/>
        </p:nvSpPr>
        <p:spPr>
          <a:xfrm>
            <a:off x="7114032" y="868680"/>
            <a:ext cx="1801368" cy="310896"/>
          </a:xfrm>
          <a:prstGeom prst="rect">
            <a:avLst/>
          </a:prstGeom>
          <a:solidFill>
            <a:srgbClr val="2A5298"/>
          </a:solidFill>
          <a:ln w="12700">
            <a:solidFill>
              <a:srgbClr val="2A5298"/>
            </a:solidFill>
            <a:prstDash val="solid"/>
          </a:ln>
        </p:spPr>
        <p:txBody>
          <a:bodyPr/>
          <a:lstStyle/>
          <a:p>
            <a:endParaRPr lang="en-US"/>
          </a:p>
        </p:txBody>
      </p:sp>
      <p:sp>
        <p:nvSpPr>
          <p:cNvPr id="7" name="Text 5"/>
          <p:cNvSpPr/>
          <p:nvPr/>
        </p:nvSpPr>
        <p:spPr>
          <a:xfrm>
            <a:off x="7114032" y="868680"/>
            <a:ext cx="1801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Time to know</a:t>
            </a:r>
            <a:endParaRPr lang="en-US" sz="1100" dirty="0"/>
          </a:p>
        </p:txBody>
      </p:sp>
      <p:sp>
        <p:nvSpPr>
          <p:cNvPr id="8" name="Shape 6"/>
          <p:cNvSpPr/>
          <p:nvPr/>
        </p:nvSpPr>
        <p:spPr>
          <a:xfrm>
            <a:off x="228600" y="1207008"/>
            <a:ext cx="64008" cy="576072"/>
          </a:xfrm>
          <a:prstGeom prst="rect">
            <a:avLst/>
          </a:prstGeom>
          <a:solidFill>
            <a:srgbClr val="0F6E56"/>
          </a:solidFill>
          <a:ln w="12700">
            <a:solidFill>
              <a:srgbClr val="0F6E56"/>
            </a:solidFill>
            <a:prstDash val="solid"/>
          </a:ln>
        </p:spPr>
        <p:txBody>
          <a:bodyPr/>
          <a:lstStyle/>
          <a:p>
            <a:endParaRPr lang="en-US"/>
          </a:p>
        </p:txBody>
      </p:sp>
      <p:sp>
        <p:nvSpPr>
          <p:cNvPr id="9" name="Shape 7"/>
          <p:cNvSpPr/>
          <p:nvPr/>
        </p:nvSpPr>
        <p:spPr>
          <a:xfrm>
            <a:off x="292608" y="1207008"/>
            <a:ext cx="6793992" cy="576072"/>
          </a:xfrm>
          <a:prstGeom prst="rect">
            <a:avLst/>
          </a:prstGeom>
          <a:solidFill>
            <a:srgbClr val="E6F4EE"/>
          </a:solidFill>
          <a:ln w="3810">
            <a:solidFill>
              <a:srgbClr val="D0D8E8"/>
            </a:solidFill>
            <a:prstDash val="solid"/>
          </a:ln>
        </p:spPr>
        <p:txBody>
          <a:bodyPr/>
          <a:lstStyle/>
          <a:p>
            <a:endParaRPr lang="en-US"/>
          </a:p>
        </p:txBody>
      </p:sp>
      <p:sp>
        <p:nvSpPr>
          <p:cNvPr id="10" name="Text 8"/>
          <p:cNvSpPr/>
          <p:nvPr/>
        </p:nvSpPr>
        <p:spPr>
          <a:xfrm>
            <a:off x="402336" y="1243584"/>
            <a:ext cx="6583680" cy="237744"/>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Type 4 students flagged by district</a:t>
            </a:r>
            <a:endParaRPr lang="en-US" sz="1100" dirty="0"/>
          </a:p>
        </p:txBody>
      </p:sp>
      <p:sp>
        <p:nvSpPr>
          <p:cNvPr id="11" name="Text 9"/>
          <p:cNvSpPr/>
          <p:nvPr/>
        </p:nvSpPr>
        <p:spPr>
          <a:xfrm>
            <a:off x="402336" y="1481328"/>
            <a:ext cx="6583680" cy="256032"/>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Oral fluency exceeds written performance — students identified by school and classroom</a:t>
            </a:r>
            <a:endParaRPr lang="en-US" sz="950" dirty="0"/>
          </a:p>
        </p:txBody>
      </p:sp>
      <p:sp>
        <p:nvSpPr>
          <p:cNvPr id="12" name="Shape 10"/>
          <p:cNvSpPr/>
          <p:nvPr/>
        </p:nvSpPr>
        <p:spPr>
          <a:xfrm>
            <a:off x="7114032" y="1207008"/>
            <a:ext cx="1801368" cy="576072"/>
          </a:xfrm>
          <a:prstGeom prst="rect">
            <a:avLst/>
          </a:prstGeom>
          <a:solidFill>
            <a:srgbClr val="0F6E56"/>
          </a:solidFill>
          <a:ln w="12700">
            <a:solidFill>
              <a:srgbClr val="0F6E56"/>
            </a:solidFill>
            <a:prstDash val="solid"/>
          </a:ln>
        </p:spPr>
        <p:txBody>
          <a:bodyPr/>
          <a:lstStyle/>
          <a:p>
            <a:endParaRPr lang="en-US"/>
          </a:p>
        </p:txBody>
      </p:sp>
      <p:sp>
        <p:nvSpPr>
          <p:cNvPr id="13" name="Text 11"/>
          <p:cNvSpPr/>
          <p:nvPr/>
        </p:nvSpPr>
        <p:spPr>
          <a:xfrm>
            <a:off x="7114032" y="1207008"/>
            <a:ext cx="1801368" cy="5760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Days</a:t>
            </a:r>
            <a:endParaRPr lang="en-US" sz="1400" dirty="0"/>
          </a:p>
        </p:txBody>
      </p:sp>
      <p:sp>
        <p:nvSpPr>
          <p:cNvPr id="14" name="Shape 12"/>
          <p:cNvSpPr/>
          <p:nvPr/>
        </p:nvSpPr>
        <p:spPr>
          <a:xfrm>
            <a:off x="228600" y="1819656"/>
            <a:ext cx="64008" cy="576072"/>
          </a:xfrm>
          <a:prstGeom prst="rect">
            <a:avLst/>
          </a:prstGeom>
          <a:solidFill>
            <a:srgbClr val="7F77DD"/>
          </a:solidFill>
          <a:ln w="12700">
            <a:solidFill>
              <a:srgbClr val="7F77DD"/>
            </a:solidFill>
            <a:prstDash val="solid"/>
          </a:ln>
        </p:spPr>
        <p:txBody>
          <a:bodyPr/>
          <a:lstStyle/>
          <a:p>
            <a:endParaRPr lang="en-US"/>
          </a:p>
        </p:txBody>
      </p:sp>
      <p:sp>
        <p:nvSpPr>
          <p:cNvPr id="15" name="Shape 13"/>
          <p:cNvSpPr/>
          <p:nvPr/>
        </p:nvSpPr>
        <p:spPr>
          <a:xfrm>
            <a:off x="292608" y="1819656"/>
            <a:ext cx="6793992" cy="576072"/>
          </a:xfrm>
          <a:prstGeom prst="rect">
            <a:avLst/>
          </a:prstGeom>
          <a:solidFill>
            <a:srgbClr val="EDE8F8"/>
          </a:solidFill>
          <a:ln w="3810">
            <a:solidFill>
              <a:srgbClr val="D0D8E8"/>
            </a:solidFill>
            <a:prstDash val="solid"/>
          </a:ln>
        </p:spPr>
        <p:txBody>
          <a:bodyPr/>
          <a:lstStyle/>
          <a:p>
            <a:endParaRPr lang="en-US"/>
          </a:p>
        </p:txBody>
      </p:sp>
      <p:sp>
        <p:nvSpPr>
          <p:cNvPr id="16" name="Text 14"/>
          <p:cNvSpPr/>
          <p:nvPr/>
        </p:nvSpPr>
        <p:spPr>
          <a:xfrm>
            <a:off x="402336" y="1856232"/>
            <a:ext cx="6583680" cy="237744"/>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LCAP match rate confirmed</a:t>
            </a:r>
            <a:endParaRPr lang="en-US" sz="1100" dirty="0"/>
          </a:p>
        </p:txBody>
      </p:sp>
      <p:sp>
        <p:nvSpPr>
          <p:cNvPr id="17" name="Text 15"/>
          <p:cNvSpPr/>
          <p:nvPr/>
        </p:nvSpPr>
        <p:spPr>
          <a:xfrm>
            <a:off x="402336" y="2093976"/>
            <a:ext cx="6583680" cy="256032"/>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Funded actions verified against flagged students — trustees can see the gap between spend and reach</a:t>
            </a:r>
            <a:endParaRPr lang="en-US" sz="950" dirty="0"/>
          </a:p>
        </p:txBody>
      </p:sp>
      <p:sp>
        <p:nvSpPr>
          <p:cNvPr id="18" name="Shape 16"/>
          <p:cNvSpPr/>
          <p:nvPr/>
        </p:nvSpPr>
        <p:spPr>
          <a:xfrm>
            <a:off x="7114032" y="1819656"/>
            <a:ext cx="1801368" cy="576072"/>
          </a:xfrm>
          <a:prstGeom prst="rect">
            <a:avLst/>
          </a:prstGeom>
          <a:solidFill>
            <a:srgbClr val="7F77DD"/>
          </a:solidFill>
          <a:ln w="12700">
            <a:solidFill>
              <a:srgbClr val="7F77DD"/>
            </a:solidFill>
            <a:prstDash val="solid"/>
          </a:ln>
        </p:spPr>
        <p:txBody>
          <a:bodyPr/>
          <a:lstStyle/>
          <a:p>
            <a:endParaRPr lang="en-US"/>
          </a:p>
        </p:txBody>
      </p:sp>
      <p:sp>
        <p:nvSpPr>
          <p:cNvPr id="19" name="Text 17"/>
          <p:cNvSpPr/>
          <p:nvPr/>
        </p:nvSpPr>
        <p:spPr>
          <a:xfrm>
            <a:off x="7114032" y="1819656"/>
            <a:ext cx="1801368" cy="5760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 weeks</a:t>
            </a:r>
            <a:endParaRPr lang="en-US" sz="1400" dirty="0"/>
          </a:p>
        </p:txBody>
      </p:sp>
      <p:sp>
        <p:nvSpPr>
          <p:cNvPr id="20" name="Shape 18"/>
          <p:cNvSpPr/>
          <p:nvPr/>
        </p:nvSpPr>
        <p:spPr>
          <a:xfrm>
            <a:off x="228600" y="2432304"/>
            <a:ext cx="64008" cy="576072"/>
          </a:xfrm>
          <a:prstGeom prst="rect">
            <a:avLst/>
          </a:prstGeom>
          <a:solidFill>
            <a:srgbClr val="7F77DD"/>
          </a:solidFill>
          <a:ln w="12700">
            <a:solidFill>
              <a:srgbClr val="7F77DD"/>
            </a:solidFill>
            <a:prstDash val="solid"/>
          </a:ln>
        </p:spPr>
        <p:txBody>
          <a:bodyPr/>
          <a:lstStyle/>
          <a:p>
            <a:endParaRPr lang="en-US"/>
          </a:p>
        </p:txBody>
      </p:sp>
      <p:sp>
        <p:nvSpPr>
          <p:cNvPr id="21" name="Shape 19"/>
          <p:cNvSpPr/>
          <p:nvPr/>
        </p:nvSpPr>
        <p:spPr>
          <a:xfrm>
            <a:off x="292608" y="2432304"/>
            <a:ext cx="6793992" cy="576072"/>
          </a:xfrm>
          <a:prstGeom prst="rect">
            <a:avLst/>
          </a:prstGeom>
          <a:solidFill>
            <a:srgbClr val="EDE8F8"/>
          </a:solidFill>
          <a:ln w="3810">
            <a:solidFill>
              <a:srgbClr val="D0D8E8"/>
            </a:solidFill>
            <a:prstDash val="solid"/>
          </a:ln>
        </p:spPr>
        <p:txBody>
          <a:bodyPr/>
          <a:lstStyle/>
          <a:p>
            <a:endParaRPr lang="en-US"/>
          </a:p>
        </p:txBody>
      </p:sp>
      <p:sp>
        <p:nvSpPr>
          <p:cNvPr id="22" name="Text 20"/>
          <p:cNvSpPr/>
          <p:nvPr/>
        </p:nvSpPr>
        <p:spPr>
          <a:xfrm>
            <a:off x="402336" y="2468880"/>
            <a:ext cx="6583680" cy="237744"/>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Cross-district pattern visible</a:t>
            </a:r>
            <a:endParaRPr lang="en-US" sz="1100" dirty="0"/>
          </a:p>
        </p:txBody>
      </p:sp>
      <p:sp>
        <p:nvSpPr>
          <p:cNvPr id="23" name="Text 21"/>
          <p:cNvSpPr/>
          <p:nvPr/>
        </p:nvSpPr>
        <p:spPr>
          <a:xfrm>
            <a:off x="402336" y="2706624"/>
            <a:ext cx="6583680" cy="256032"/>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What one district learns, every district can act on — statewide intelligence in motion</a:t>
            </a:r>
            <a:endParaRPr lang="en-US" sz="950" dirty="0"/>
          </a:p>
        </p:txBody>
      </p:sp>
      <p:sp>
        <p:nvSpPr>
          <p:cNvPr id="24" name="Shape 22"/>
          <p:cNvSpPr/>
          <p:nvPr/>
        </p:nvSpPr>
        <p:spPr>
          <a:xfrm>
            <a:off x="7114032" y="2432304"/>
            <a:ext cx="1801368" cy="576072"/>
          </a:xfrm>
          <a:prstGeom prst="rect">
            <a:avLst/>
          </a:prstGeom>
          <a:solidFill>
            <a:srgbClr val="7F77DD"/>
          </a:solidFill>
          <a:ln w="12700">
            <a:solidFill>
              <a:srgbClr val="7F77DD"/>
            </a:solidFill>
            <a:prstDash val="solid"/>
          </a:ln>
        </p:spPr>
        <p:txBody>
          <a:bodyPr/>
          <a:lstStyle/>
          <a:p>
            <a:endParaRPr lang="en-US"/>
          </a:p>
        </p:txBody>
      </p:sp>
      <p:sp>
        <p:nvSpPr>
          <p:cNvPr id="25" name="Text 23"/>
          <p:cNvSpPr/>
          <p:nvPr/>
        </p:nvSpPr>
        <p:spPr>
          <a:xfrm>
            <a:off x="7114032" y="2432304"/>
            <a:ext cx="1801368" cy="5760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month</a:t>
            </a:r>
            <a:endParaRPr lang="en-US" sz="1400" dirty="0"/>
          </a:p>
        </p:txBody>
      </p:sp>
      <p:sp>
        <p:nvSpPr>
          <p:cNvPr id="26" name="Shape 24"/>
          <p:cNvSpPr/>
          <p:nvPr/>
        </p:nvSpPr>
        <p:spPr>
          <a:xfrm>
            <a:off x="228600" y="3044952"/>
            <a:ext cx="64008" cy="576072"/>
          </a:xfrm>
          <a:prstGeom prst="rect">
            <a:avLst/>
          </a:prstGeom>
          <a:solidFill>
            <a:srgbClr val="C9A227"/>
          </a:solidFill>
          <a:ln w="12700">
            <a:solidFill>
              <a:srgbClr val="C9A227"/>
            </a:solidFill>
            <a:prstDash val="solid"/>
          </a:ln>
        </p:spPr>
        <p:txBody>
          <a:bodyPr/>
          <a:lstStyle/>
          <a:p>
            <a:endParaRPr lang="en-US"/>
          </a:p>
        </p:txBody>
      </p:sp>
      <p:sp>
        <p:nvSpPr>
          <p:cNvPr id="27" name="Shape 25"/>
          <p:cNvSpPr/>
          <p:nvPr/>
        </p:nvSpPr>
        <p:spPr>
          <a:xfrm>
            <a:off x="292608" y="3044952"/>
            <a:ext cx="6793992" cy="576072"/>
          </a:xfrm>
          <a:prstGeom prst="rect">
            <a:avLst/>
          </a:prstGeom>
          <a:solidFill>
            <a:srgbClr val="FDF3E3"/>
          </a:solidFill>
          <a:ln w="3810">
            <a:solidFill>
              <a:srgbClr val="D0D8E8"/>
            </a:solidFill>
            <a:prstDash val="solid"/>
          </a:ln>
        </p:spPr>
        <p:txBody>
          <a:bodyPr/>
          <a:lstStyle/>
          <a:p>
            <a:endParaRPr lang="en-US"/>
          </a:p>
        </p:txBody>
      </p:sp>
      <p:sp>
        <p:nvSpPr>
          <p:cNvPr id="28" name="Text 26"/>
          <p:cNvSpPr/>
          <p:nvPr/>
        </p:nvSpPr>
        <p:spPr>
          <a:xfrm>
            <a:off x="402336" y="3081528"/>
            <a:ext cx="6583680" cy="237744"/>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External data integrated into decisions</a:t>
            </a:r>
            <a:endParaRPr lang="en-US" sz="1100" dirty="0"/>
          </a:p>
        </p:txBody>
      </p:sp>
      <p:sp>
        <p:nvSpPr>
          <p:cNvPr id="29" name="Text 27"/>
          <p:cNvSpPr/>
          <p:nvPr/>
        </p:nvSpPr>
        <p:spPr>
          <a:xfrm>
            <a:off x="402336" y="3319272"/>
            <a:ext cx="6583680" cy="256032"/>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Attendance, behavior, and MTSS feeds added — VERA tells you what the combined data means</a:t>
            </a:r>
            <a:endParaRPr lang="en-US" sz="950" dirty="0"/>
          </a:p>
        </p:txBody>
      </p:sp>
      <p:sp>
        <p:nvSpPr>
          <p:cNvPr id="30" name="Shape 28"/>
          <p:cNvSpPr/>
          <p:nvPr/>
        </p:nvSpPr>
        <p:spPr>
          <a:xfrm>
            <a:off x="7114032" y="3044952"/>
            <a:ext cx="1801368" cy="576072"/>
          </a:xfrm>
          <a:prstGeom prst="rect">
            <a:avLst/>
          </a:prstGeom>
          <a:solidFill>
            <a:srgbClr val="C9A227"/>
          </a:solidFill>
          <a:ln w="12700">
            <a:solidFill>
              <a:srgbClr val="C9A227"/>
            </a:solidFill>
            <a:prstDash val="solid"/>
          </a:ln>
        </p:spPr>
        <p:txBody>
          <a:bodyPr/>
          <a:lstStyle/>
          <a:p>
            <a:endParaRPr lang="en-US"/>
          </a:p>
        </p:txBody>
      </p:sp>
      <p:sp>
        <p:nvSpPr>
          <p:cNvPr id="31" name="Text 29"/>
          <p:cNvSpPr/>
          <p:nvPr/>
        </p:nvSpPr>
        <p:spPr>
          <a:xfrm>
            <a:off x="7114032" y="3044952"/>
            <a:ext cx="1801368" cy="5760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quarter</a:t>
            </a:r>
            <a:endParaRPr lang="en-US" sz="1400" dirty="0"/>
          </a:p>
        </p:txBody>
      </p:sp>
      <p:sp>
        <p:nvSpPr>
          <p:cNvPr id="32" name="Shape 30"/>
          <p:cNvSpPr/>
          <p:nvPr/>
        </p:nvSpPr>
        <p:spPr>
          <a:xfrm>
            <a:off x="228600" y="3657600"/>
            <a:ext cx="64008" cy="576072"/>
          </a:xfrm>
          <a:prstGeom prst="rect">
            <a:avLst/>
          </a:prstGeom>
          <a:solidFill>
            <a:srgbClr val="C9A227"/>
          </a:solidFill>
          <a:ln w="12700">
            <a:solidFill>
              <a:srgbClr val="C9A227"/>
            </a:solidFill>
            <a:prstDash val="solid"/>
          </a:ln>
        </p:spPr>
        <p:txBody>
          <a:bodyPr/>
          <a:lstStyle/>
          <a:p>
            <a:endParaRPr lang="en-US"/>
          </a:p>
        </p:txBody>
      </p:sp>
      <p:sp>
        <p:nvSpPr>
          <p:cNvPr id="33" name="Shape 31"/>
          <p:cNvSpPr/>
          <p:nvPr/>
        </p:nvSpPr>
        <p:spPr>
          <a:xfrm>
            <a:off x="292608" y="3657600"/>
            <a:ext cx="6793992" cy="576072"/>
          </a:xfrm>
          <a:prstGeom prst="rect">
            <a:avLst/>
          </a:prstGeom>
          <a:solidFill>
            <a:srgbClr val="FDF3E3"/>
          </a:solidFill>
          <a:ln w="3810">
            <a:solidFill>
              <a:srgbClr val="D0D8E8"/>
            </a:solidFill>
            <a:prstDash val="solid"/>
          </a:ln>
        </p:spPr>
        <p:txBody>
          <a:bodyPr/>
          <a:lstStyle/>
          <a:p>
            <a:endParaRPr lang="en-US"/>
          </a:p>
        </p:txBody>
      </p:sp>
      <p:sp>
        <p:nvSpPr>
          <p:cNvPr id="34" name="Text 32"/>
          <p:cNvSpPr/>
          <p:nvPr/>
        </p:nvSpPr>
        <p:spPr>
          <a:xfrm>
            <a:off x="402336" y="3694176"/>
            <a:ext cx="6583680" cy="237744"/>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Teacher acts on a student's warning signs</a:t>
            </a:r>
            <a:endParaRPr lang="en-US" sz="1100" dirty="0"/>
          </a:p>
        </p:txBody>
      </p:sp>
      <p:sp>
        <p:nvSpPr>
          <p:cNvPr id="35" name="Text 33"/>
          <p:cNvSpPr/>
          <p:nvPr/>
        </p:nvSpPr>
        <p:spPr>
          <a:xfrm>
            <a:off x="402336" y="3931920"/>
            <a:ext cx="6583680" cy="256032"/>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Early warning surfaces before the gap becomes a grade retention or a referral</a:t>
            </a:r>
            <a:endParaRPr lang="en-US" sz="950" dirty="0"/>
          </a:p>
        </p:txBody>
      </p:sp>
      <p:sp>
        <p:nvSpPr>
          <p:cNvPr id="36" name="Shape 34"/>
          <p:cNvSpPr/>
          <p:nvPr/>
        </p:nvSpPr>
        <p:spPr>
          <a:xfrm>
            <a:off x="7114032" y="3657600"/>
            <a:ext cx="1801368" cy="576072"/>
          </a:xfrm>
          <a:prstGeom prst="rect">
            <a:avLst/>
          </a:prstGeom>
          <a:solidFill>
            <a:srgbClr val="C9A227"/>
          </a:solidFill>
          <a:ln w="12700">
            <a:solidFill>
              <a:srgbClr val="C9A227"/>
            </a:solidFill>
            <a:prstDash val="solid"/>
          </a:ln>
        </p:spPr>
        <p:txBody>
          <a:bodyPr/>
          <a:lstStyle/>
          <a:p>
            <a:endParaRPr lang="en-US"/>
          </a:p>
        </p:txBody>
      </p:sp>
      <p:sp>
        <p:nvSpPr>
          <p:cNvPr id="37" name="Text 35"/>
          <p:cNvSpPr/>
          <p:nvPr/>
        </p:nvSpPr>
        <p:spPr>
          <a:xfrm>
            <a:off x="7114032" y="3657600"/>
            <a:ext cx="1801368" cy="5760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semester</a:t>
            </a:r>
            <a:endParaRPr lang="en-US" sz="1400" dirty="0"/>
          </a:p>
        </p:txBody>
      </p:sp>
      <p:sp>
        <p:nvSpPr>
          <p:cNvPr id="38" name="Shape 36"/>
          <p:cNvSpPr/>
          <p:nvPr/>
        </p:nvSpPr>
        <p:spPr>
          <a:xfrm>
            <a:off x="228600" y="4270248"/>
            <a:ext cx="64008" cy="576072"/>
          </a:xfrm>
          <a:prstGeom prst="rect">
            <a:avLst/>
          </a:prstGeom>
          <a:solidFill>
            <a:srgbClr val="C0392B"/>
          </a:solidFill>
          <a:ln w="12700">
            <a:solidFill>
              <a:srgbClr val="C0392B"/>
            </a:solidFill>
            <a:prstDash val="solid"/>
          </a:ln>
        </p:spPr>
        <p:txBody>
          <a:bodyPr/>
          <a:lstStyle/>
          <a:p>
            <a:endParaRPr lang="en-US"/>
          </a:p>
        </p:txBody>
      </p:sp>
      <p:sp>
        <p:nvSpPr>
          <p:cNvPr id="39" name="Shape 37"/>
          <p:cNvSpPr/>
          <p:nvPr/>
        </p:nvSpPr>
        <p:spPr>
          <a:xfrm>
            <a:off x="292608" y="4270248"/>
            <a:ext cx="6793992" cy="576072"/>
          </a:xfrm>
          <a:prstGeom prst="rect">
            <a:avLst/>
          </a:prstGeom>
          <a:solidFill>
            <a:srgbClr val="FAEAE7"/>
          </a:solidFill>
          <a:ln w="3810">
            <a:solidFill>
              <a:srgbClr val="D0D8E8"/>
            </a:solidFill>
            <a:prstDash val="solid"/>
          </a:ln>
        </p:spPr>
        <p:txBody>
          <a:bodyPr/>
          <a:lstStyle/>
          <a:p>
            <a:endParaRPr lang="en-US"/>
          </a:p>
        </p:txBody>
      </p:sp>
      <p:sp>
        <p:nvSpPr>
          <p:cNvPr id="40" name="Text 38"/>
          <p:cNvSpPr/>
          <p:nvPr/>
        </p:nvSpPr>
        <p:spPr>
          <a:xfrm>
            <a:off x="402336" y="4306824"/>
            <a:ext cx="6583680" cy="237744"/>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CAASPP ELA scores shift in pilot districts</a:t>
            </a:r>
            <a:endParaRPr lang="en-US" sz="1100" dirty="0"/>
          </a:p>
        </p:txBody>
      </p:sp>
      <p:sp>
        <p:nvSpPr>
          <p:cNvPr id="41" name="Text 39"/>
          <p:cNvSpPr/>
          <p:nvPr/>
        </p:nvSpPr>
        <p:spPr>
          <a:xfrm>
            <a:off x="402336" y="4544568"/>
            <a:ext cx="6583680" cy="256032"/>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The Dashboard confirms what VERA predicted — outcomes move, not just indicators</a:t>
            </a:r>
            <a:endParaRPr lang="en-US" sz="950" dirty="0"/>
          </a:p>
        </p:txBody>
      </p:sp>
      <p:sp>
        <p:nvSpPr>
          <p:cNvPr id="42" name="Shape 40"/>
          <p:cNvSpPr/>
          <p:nvPr/>
        </p:nvSpPr>
        <p:spPr>
          <a:xfrm>
            <a:off x="7114032" y="4270248"/>
            <a:ext cx="1801368" cy="576072"/>
          </a:xfrm>
          <a:prstGeom prst="rect">
            <a:avLst/>
          </a:prstGeom>
          <a:solidFill>
            <a:srgbClr val="C0392B"/>
          </a:solidFill>
          <a:ln w="12700">
            <a:solidFill>
              <a:srgbClr val="C0392B"/>
            </a:solidFill>
            <a:prstDash val="solid"/>
          </a:ln>
        </p:spPr>
        <p:txBody>
          <a:bodyPr/>
          <a:lstStyle/>
          <a:p>
            <a:endParaRPr lang="en-US"/>
          </a:p>
        </p:txBody>
      </p:sp>
      <p:sp>
        <p:nvSpPr>
          <p:cNvPr id="43" name="Text 41"/>
          <p:cNvSpPr/>
          <p:nvPr/>
        </p:nvSpPr>
        <p:spPr>
          <a:xfrm>
            <a:off x="7114032" y="4270248"/>
            <a:ext cx="1801368" cy="5760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 year</a:t>
            </a:r>
            <a:endParaRPr lang="en-US" sz="1400" dirty="0"/>
          </a:p>
        </p:txBody>
      </p:sp>
      <p:sp>
        <p:nvSpPr>
          <p:cNvPr id="44" name="Text 42"/>
          <p:cNvSpPr/>
          <p:nvPr/>
        </p:nvSpPr>
        <p:spPr>
          <a:xfrm>
            <a:off x="228600" y="4864608"/>
            <a:ext cx="8686800" cy="256032"/>
          </a:xfrm>
          <a:prstGeom prst="rect">
            <a:avLst/>
          </a:prstGeom>
          <a:noFill/>
          <a:ln/>
        </p:spPr>
        <p:txBody>
          <a:bodyPr wrap="square" rtlCol="0" anchor="ctr"/>
          <a:lstStyle/>
          <a:p>
            <a:pPr marL="0" indent="0" algn="ctr">
              <a:buNone/>
            </a:pPr>
            <a:r>
              <a:rPr lang="en-US" sz="900" i="1" dirty="0">
                <a:solidFill>
                  <a:srgbClr val="5A6A8A"/>
                </a:solidFill>
                <a:latin typeface="Calibri" pitchFamily="34" charset="0"/>
                <a:ea typeface="Calibri" pitchFamily="34" charset="-122"/>
                <a:cs typeface="Calibri" pitchFamily="34" charset="-120"/>
              </a:rPr>
              <a:t>CDE AI in Education deadline: July 2026  —  Before July: founder.  After July: vendor.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227"/>
          </a:solidFill>
          <a:ln w="12700">
            <a:solidFill>
              <a:srgbClr val="C9A227"/>
            </a:solidFill>
            <a:prstDash val="solid"/>
          </a:ln>
        </p:spPr>
        <p:txBody>
          <a:bodyPr/>
          <a:lstStyle/>
          <a:p>
            <a:endParaRPr lang="en-US"/>
          </a:p>
        </p:txBody>
      </p:sp>
      <p:sp>
        <p:nvSpPr>
          <p:cNvPr id="3" name="Shape 1"/>
          <p:cNvSpPr/>
          <p:nvPr/>
        </p:nvSpPr>
        <p:spPr>
          <a:xfrm>
            <a:off x="0" y="4389120"/>
            <a:ext cx="9144000" cy="754380"/>
          </a:xfrm>
          <a:prstGeom prst="rect">
            <a:avLst/>
          </a:prstGeom>
          <a:solidFill>
            <a:srgbClr val="C9A227"/>
          </a:solidFill>
          <a:ln w="12700">
            <a:solidFill>
              <a:srgbClr val="C9A227"/>
            </a:solidFill>
            <a:prstDash val="solid"/>
          </a:ln>
        </p:spPr>
        <p:txBody>
          <a:bodyPr/>
          <a:lstStyle/>
          <a:p>
            <a:endParaRPr lang="en-US"/>
          </a:p>
        </p:txBody>
      </p:sp>
      <p:pic>
        <p:nvPicPr>
          <p:cNvPr id="4" name="Image 0" descr="/home/claude/image7.png"/>
          <p:cNvPicPr>
            <a:picLocks noChangeAspect="1"/>
          </p:cNvPicPr>
          <p:nvPr/>
        </p:nvPicPr>
        <p:blipFill>
          <a:blip r:embed="rId3">
            <a:alphaModFix amt="35000"/>
          </a:blip>
          <a:stretch>
            <a:fillRect/>
          </a:stretch>
        </p:blipFill>
        <p:spPr>
          <a:xfrm>
            <a:off x="4114800" y="457200"/>
            <a:ext cx="4846320" cy="3840480"/>
          </a:xfrm>
          <a:prstGeom prst="rect">
            <a:avLst/>
          </a:prstGeom>
        </p:spPr>
      </p:pic>
      <p:sp>
        <p:nvSpPr>
          <p:cNvPr id="5" name="Text 2"/>
          <p:cNvSpPr/>
          <p:nvPr/>
        </p:nvSpPr>
        <p:spPr>
          <a:xfrm>
            <a:off x="320040" y="457200"/>
            <a:ext cx="5486400" cy="82296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Thank You</a:t>
            </a:r>
            <a:endParaRPr lang="en-US" sz="4200" dirty="0"/>
          </a:p>
        </p:txBody>
      </p:sp>
      <p:sp>
        <p:nvSpPr>
          <p:cNvPr id="6" name="Shape 3"/>
          <p:cNvSpPr/>
          <p:nvPr/>
        </p:nvSpPr>
        <p:spPr>
          <a:xfrm>
            <a:off x="320040" y="1371600"/>
            <a:ext cx="3657600" cy="36576"/>
          </a:xfrm>
          <a:prstGeom prst="rect">
            <a:avLst/>
          </a:prstGeom>
          <a:solidFill>
            <a:srgbClr val="C9A227"/>
          </a:solidFill>
          <a:ln w="12700">
            <a:solidFill>
              <a:srgbClr val="C9A227"/>
            </a:solidFill>
            <a:prstDash val="solid"/>
          </a:ln>
        </p:spPr>
        <p:txBody>
          <a:bodyPr/>
          <a:lstStyle/>
          <a:p>
            <a:endParaRPr lang="en-US"/>
          </a:p>
        </p:txBody>
      </p:sp>
      <p:sp>
        <p:nvSpPr>
          <p:cNvPr id="7" name="Text 4"/>
          <p:cNvSpPr/>
          <p:nvPr/>
        </p:nvSpPr>
        <p:spPr>
          <a:xfrm>
            <a:off x="320040" y="1508760"/>
            <a:ext cx="5669280" cy="118872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H-EDU and VERA exist because the problem is real, the data is available, and the window to act is closing. We look forward to building this with you.</a:t>
            </a:r>
            <a:endParaRPr lang="en-US" sz="1500" dirty="0"/>
          </a:p>
        </p:txBody>
      </p:sp>
      <p:pic>
        <p:nvPicPr>
          <p:cNvPr id="8" name="Image 1" descr="/home/claude/image4.jpeg"/>
          <p:cNvPicPr>
            <a:picLocks noChangeAspect="1"/>
          </p:cNvPicPr>
          <p:nvPr/>
        </p:nvPicPr>
        <p:blipFill>
          <a:blip r:embed="rId4"/>
          <a:stretch>
            <a:fillRect/>
          </a:stretch>
        </p:blipFill>
        <p:spPr>
          <a:xfrm>
            <a:off x="320040" y="2880360"/>
            <a:ext cx="2926080" cy="1152144"/>
          </a:xfrm>
          <a:prstGeom prst="rect">
            <a:avLst/>
          </a:prstGeom>
        </p:spPr>
      </p:pic>
      <p:sp>
        <p:nvSpPr>
          <p:cNvPr id="9" name="Text 5"/>
          <p:cNvSpPr/>
          <p:nvPr/>
        </p:nvSpPr>
        <p:spPr>
          <a:xfrm>
            <a:off x="320040" y="4407408"/>
            <a:ext cx="8503920" cy="36576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brian@hallucinations.cloud  |  H-EDU.solutions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1384</Words>
  <Application>Microsoft Office PowerPoint</Application>
  <PresentationFormat>On-screen Show (16:9)</PresentationFormat>
  <Paragraphs>132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H-EDU.Solutions Presentation to The CSBA</dc:title>
  <dc:subject>PptxGenJS Presentation</dc:subject>
  <dc:creator>PptxGenJS</dc:creator>
  <cp:lastModifiedBy>Brian Demsey</cp:lastModifiedBy>
  <cp:revision>1</cp:revision>
  <dcterms:created xsi:type="dcterms:W3CDTF">2026-03-19T23:42:02Z</dcterms:created>
  <dcterms:modified xsi:type="dcterms:W3CDTF">2026-03-19T23:46:33Z</dcterms:modified>
</cp:coreProperties>
</file>